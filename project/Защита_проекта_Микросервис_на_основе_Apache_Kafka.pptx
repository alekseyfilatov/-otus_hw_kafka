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embedTrueTypeFonts="1" saveSubsetFonts="0">
  <p:sldMasterIdLst>
    <p:sldMasterId id="214748367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15"/>
    <p:sldId id="276" r:id="rId16"/>
    <p:sldId id="277" r:id="rId17"/>
    <p:sldId id="278" r:id="rId18"/>
    <p:sldId id="279" r:id="rId19"/>
    <p:sldId id="264" r:id="rId20"/>
    <p:sldId id="265" r:id="rId21"/>
    <p:sldId id="266" r:id="rId22"/>
  </p:sldIdLst>
  <p:sldSz cx="9144000" cy="6858000"/>
  <p:notesSz cx="6858000" cy="9144000"/>
  <p:embeddedFontLst>
    <p:embeddedFont>
      <p:font typeface="Roboto" pitchFamily="0" charset="0"/>
      <p:regular r:id="rId23"/>
      <p:bold r:id="rId24"/>
      <p:italic r:id="rId25"/>
    </p:embeddedFont>
  </p:embeddedFontLst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19405421" val="1215" revOS="4"/>
      <pr:smFileRevision xmlns:pr="smNativeData" xmlns="smNativeData" dt="1719405421" val="101"/>
      <pr:guideOptions xmlns:pr="smNativeData" xmlns="smNativeData" dt="1719405421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 varScale="1">
        <p:scale>
          <a:sx n="47" d="100"/>
          <a:sy n="47" d="100"/>
        </p:scale>
        <p:origin x="1370" y="216"/>
      </p:cViewPr>
      <p:guideLst x="0" y="0">
        <p:guide orient="horz" pos="4082"/>
        <p:guide orient="horz" pos="238"/>
        <p:guide pos="5533"/>
        <p:guide pos="227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4" d="100"/>
        <a:sy n="14" d="100"/>
      </p:scale>
      <p:origin x="0" y="0"/>
    </p:cViewPr>
  </p:sorterViewPr>
  <p:notesViewPr>
    <p:cSldViewPr snapToGrid="0">
      <p:cViewPr>
        <p:scale>
          <a:sx n="47" d="100"/>
          <a:sy n="47" d="100"/>
        </p:scale>
        <p:origin x="1370" y="216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C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D/Hw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  <a:noFill/>
          <a:ln w="9525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3" name="Google Shape;4;n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2/AAD/Hw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9pPr>
          </a:lstStyle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2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3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4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5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6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7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8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9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0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Relationship Id="rId3" Type="http://schemas.openxmlformats.org/officeDocument/2006/relationships/themeOverride" Target="../theme/themeOverride11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themeOverride" Target="../theme/themeOverride12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6;p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27;p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2;gde823becd0_0_11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33;gde823becd0_0_11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9;gde823becd0_0_40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40;gde823becd0_0_40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/Y+1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9;ge83ec99fb9_1_77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XJ0L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50;ge83ec99fb9_1_77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5;gdf29b9fb24_0_34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66;gdf29b9fb24_0_34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FRIq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2;ge83ec99fb9_1_154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73;ge83ec99fb9_1_154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KMkqf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9;ge83ec99fb9_1_160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0;ge83ec99fb9_1_160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6;gdf29b9fb24_0_69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7;gdf29b9fb24_0_69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3;gdf29b9fb24_0_85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94;gdf29b9fb24_0_85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PDbzX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9;ge83ec99fb9_1_167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L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0;ge83ec99fb9_1_167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K8Us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6;ge04b8b6756_0_36:notes"/>
          <p:cNvSpPr>
            <a:spLocks noGrp="1" noChangeArrowheads="1"/>
            <a:extLst>
              <a:ext uri="smNativeData">
                <pr:smNativeData xmlns:pr="smNativeData" xmlns="smNativeData" val="SMDATA_15_bQt8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7;ge04b8b6756_0_36:notes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a1c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0;p2"/>
          <p:cNvPicPr>
            <a:extLst>
              <a:ext uri="smNativeData">
                <pr:smNativeData xmlns:pr="smNativeData" xmlns="smNativeData" val="SMDATA_17_bQt8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lAw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T////r////XDgAAEU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" y="-13335"/>
            <a:ext cx="9179560" cy="688467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Google Shape;11;p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D8jAAD6IwAAvykAABAAAAAmAAAACAAAAD2wAAAAAAAA"/>
              </a:ext>
            </a:extLst>
          </p:cNvSpPr>
          <p:nvPr>
            <p:ph type="subTitle" idx="1"/>
          </p:nvPr>
        </p:nvSpPr>
        <p:spPr>
          <a:xfrm>
            <a:off x="796925" y="5729605"/>
            <a:ext cx="5051425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cap="none">
                <a:solidFill>
                  <a:srgbClr val="FFFFFF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9pPr>
          </a:lstStyle>
          <a:p>
            <a:pPr/>
          </a:p>
        </p:txBody>
      </p:sp>
      <p:sp>
        <p:nvSpPr>
          <p:cNvPr id="4" name="Google Shape;12;p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MMPAACROAAAfyQAABAAAAAmAAAACAAAAD2wAAAAAAAA"/>
              </a:ext>
            </a:extLst>
          </p:cNvSpPr>
          <p:nvPr>
            <p:ph type="title"/>
          </p:nvPr>
        </p:nvSpPr>
        <p:spPr>
          <a:xfrm>
            <a:off x="796925" y="2562225"/>
            <a:ext cx="8398510" cy="337058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>
                <a:solidFill>
                  <a:srgbClr val="FFFFFF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;p3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EoPAADlMwAAMhYAABAAAAAmAAAACAAAAL2wAAAAAAAA"/>
              </a:ext>
            </a:extLst>
          </p:cNvSpPr>
          <p:nvPr>
            <p:ph type="title"/>
          </p:nvPr>
        </p:nvSpPr>
        <p:spPr>
          <a:xfrm>
            <a:off x="500380" y="2485390"/>
            <a:ext cx="7935595" cy="112268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9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 cap="none"/>
            </a:lvl9pPr>
          </a:lstStyle>
          <a:p>
            <a:pPr/>
          </a:p>
        </p:txBody>
      </p:sp>
      <p:sp>
        <p:nvSpPr>
          <p:cNvPr id="3" name="Google Shape;15;p3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0813-5DD6-08FE-98E5-ABAB46AB6EFE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;p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hr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18;p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MLAAB/NwAAuScAABAAAAAmAAAACAAAAD2wAAAAAAAA"/>
              </a:ext>
            </a:extLst>
          </p:cNvSpPr>
          <p:nvPr>
            <p:ph idx="1"/>
          </p:nvPr>
        </p:nvSpPr>
        <p:spPr>
          <a:xfrm>
            <a:off x="500380" y="1901825"/>
            <a:ext cx="8521065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4" name="Google Shape;19;p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6FF0-BED6-0899-98E5-48CC21AB6E1D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1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0114-5AD6-08F7-98E5-ACA24FAB6EF9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2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wGAAB/NwAAARcAABAAAAAmAAAACAAAAD2wAAAAAAAA"/>
              </a:ext>
            </a:extLst>
          </p:cNvSpPr>
          <p:nvPr>
            <p:ph type="title"/>
          </p:nvPr>
        </p:nvSpPr>
        <p:spPr>
          <a:xfrm>
            <a:off x="500380" y="1094740"/>
            <a:ext cx="8521065" cy="26447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700" cap="none"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23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MADAAALMwAAQQoAABAAAAAmAAAACAAAAD2wAAAAAAAA"/>
              </a:ext>
            </a:extLst>
          </p:cNvSpPr>
          <p:nvPr>
            <p:ph type="subTitle" idx="1"/>
          </p:nvPr>
        </p:nvSpPr>
        <p:spPr>
          <a:xfrm>
            <a:off x="500380" y="609600"/>
            <a:ext cx="7797165" cy="10572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5" name="Google Shape;24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6" name="Google Shape;25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CUcAABQNwAApSIAABAAAAAmAAAACAAAAD2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7" name="Google Shape;26;p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Am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EofAABQNwAAwycAABAAAAAmAAAACAAAAD2wAAAAAAAA"/>
              </a:ext>
            </a:extLst>
          </p:cNvSpPr>
          <p:nvPr>
            <p:ph type="subTitle" idx="4"/>
          </p:nvPr>
        </p:nvSpPr>
        <p:spPr>
          <a:xfrm>
            <a:off x="3135630" y="5086350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8;p6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4112-5CD6-08B7-98E5-AAE20FAB6EFF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9;p6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30;p6"/>
          <p:cNvSpPr>
            <a:spLocks noGrp="1" noChangeArrowheads="1"/>
            <a:extLst>
              <a:ext uri="smNativeData">
                <pr:smNativeData xmlns:pr="smNativeData" xmlns="smNativeData" val="SMDATA_15_bQt8ZhMAAAAlAAAAZAAAAE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XAgAALAKAAAUJAAAtiYAABAgAAAmAAAACAAAAD2wAAAAAAAA"/>
              </a:ext>
            </a:extLst>
          </p:cNvSpPr>
          <p:nvPr>
            <p:ph idx="1"/>
          </p:nvPr>
        </p:nvSpPr>
        <p:spPr>
          <a:xfrm>
            <a:off x="1358900" y="1737360"/>
            <a:ext cx="4505960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810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  <a:defRPr sz="2400" b="0" cap="none">
                <a:solidFill>
                  <a:srgbClr val="000000"/>
                </a:solidFill>
              </a:defRPr>
            </a:lvl1pPr>
            <a:lvl2pPr marL="914400" indent="-3302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cap="none">
                <a:solidFill>
                  <a:srgbClr val="000000"/>
                </a:solidFill>
              </a:defRPr>
            </a:lvl2pPr>
            <a:lvl3pPr marL="1371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6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2;p7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53EA-A4D6-08A5-98E5-52F01DAB6E07}" type="slidenum">
              <a:rPr lang="ru-ru" cap="none"/>
              <a:t/>
            </a:fld>
            <a:endParaRPr lang="ru-ru" cap="none"/>
          </a:p>
        </p:txBody>
      </p:sp>
      <p:pic>
        <p:nvPicPr>
          <p:cNvPr id="3" name="Google Shape;33;p7"/>
          <p:cNvPicPr>
            <a:extLst>
              <a:ext uri="smNativeData">
                <pr:smNativeData xmlns:pr="smNativeData" xmlns="smNativeData" val="SMDATA_17_bQt8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CwmIhj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AAAAAAAAAAQDgAADA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Google Shape;34;p7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gUAAEADAAA5NQAAziQAABAAAAAmAAAACAAAAL2wAAAAAAAA"/>
              </a:ext>
            </a:extLst>
          </p:cNvSpPr>
          <p:nvPr>
            <p:ph type="title"/>
          </p:nvPr>
        </p:nvSpPr>
        <p:spPr>
          <a:xfrm>
            <a:off x="956310" y="528320"/>
            <a:ext cx="7695565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900" cap="none">
                <a:solidFill>
                  <a:srgbClr val="FFFFFF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 cap="none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8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37;p8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JQQAADFNQAAZRUAABAAAAAmAAAACAAAAD2wAAAAAAAA"/>
              </a:ext>
            </a:extLst>
          </p:cNvSpPr>
          <p:nvPr>
            <p:ph type="subTitle" idx="1"/>
          </p:nvPr>
        </p:nvSpPr>
        <p:spPr>
          <a:xfrm>
            <a:off x="4349115" y="2694940"/>
            <a:ext cx="439166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4" name="Google Shape;38;p8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PoUAAD6NgAAtCUAABAAAAAmAAAACAAAAD2wAAAAAAAA"/>
              </a:ext>
            </a:extLst>
          </p:cNvSpPr>
          <p:nvPr>
            <p:ph type="subTitle" idx="2"/>
          </p:nvPr>
        </p:nvSpPr>
        <p:spPr>
          <a:xfrm>
            <a:off x="4349115" y="3409950"/>
            <a:ext cx="4587875" cy="27190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0;p9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AAAAAEAAAAAAAAAAAAAAAAAAAAAAAAAAAAAAAAAAAAAAAAAAAAAAAJ/f38AAAAAA8zMzADAwP8Af39/AAAAAAAAAAAAAAAAAAAAAAAAAAAAIQAAABgAAAAUAAAAIBwAAAAAAABAOAAAMCoAABAAAAAmAAAACAAAAP//////////"/>
              </a:ext>
            </a:extLst>
          </p:cNvSpPr>
          <p:nvPr/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41;p9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C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AQKAACiHAAALBYAABAAAAAmAAAACAAAAL2wAAAAAAAA"/>
              </a:ext>
            </a:extLst>
          </p:cNvSpPr>
          <p:nvPr>
            <p:ph type="title"/>
          </p:nvPr>
        </p:nvSpPr>
        <p:spPr>
          <a:xfrm>
            <a:off x="608965" y="1628140"/>
            <a:ext cx="4045585" cy="1976120"/>
          </a:xfrm>
        </p:spPr>
        <p:txBody>
          <a:bodyPr vert="horz" wrap="square" lIns="91440" tIns="91440" rIns="91440" bIns="91440" numCol="1" spcCol="215900" anchor="b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2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2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2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2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2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2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2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2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200" cap="none"/>
            </a:lvl9pPr>
          </a:lstStyle>
          <a:p>
            <a:pPr/>
          </a:p>
        </p:txBody>
      </p:sp>
      <p:sp>
        <p:nvSpPr>
          <p:cNvPr id="4" name="Google Shape;42;p9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OsXAACiHAAADSIAABAAAAAmAAAACAAAAD2wAAAAAAAA"/>
              </a:ext>
            </a:extLst>
          </p:cNvSpPr>
          <p:nvPr>
            <p:ph type="subTitle" idx="1"/>
          </p:nvPr>
        </p:nvSpPr>
        <p:spPr>
          <a:xfrm>
            <a:off x="608965" y="3888105"/>
            <a:ext cx="4045585" cy="16471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43;p9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M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x4AAPAFAAD9NQAAPyQAABAAAAAmAAAACAAAAL2wAAAAAAAA"/>
              </a:ext>
            </a:extLst>
          </p:cNvSpPr>
          <p:nvPr>
            <p:ph idx="2"/>
          </p:nvPr>
        </p:nvSpPr>
        <p:spPr>
          <a:xfrm>
            <a:off x="4939665" y="965200"/>
            <a:ext cx="3836670" cy="4926965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marL="45720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6" name="Google Shape;44;p9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742C-62D6-0882-98E5-94D73AAB6EC1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6;p10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0936-78D6-08FF-98E5-8EAA47AB6EDB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;p1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0;p1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1;p12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P///wEAAAAAAAAAAAAAAAAAAAAAAAAAAAAAAAAAAAAAAAAAAAAAAAJ/f38AWVlZ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2;p1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5;p13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ISEhDf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gAAAAEAAAAAAAAAAAAAAAAAAAAAAAAAAAAAAAAAAAAAAAAAAAAAAAJ/f38AAAAA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6;p13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solidFill>
                  <a:srgbClr val="FFFFFF"/>
                </a:solidFill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8;p1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9;p14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uwMAAJYRAACQNAAAzSUAABAAAAAmAAAACAAAAP//////////"/>
              </a:ext>
            </a:extLst>
          </p:cNvSpPr>
          <p:nvPr/>
        </p:nvSpPr>
        <p:spPr>
          <a:xfrm>
            <a:off x="606425" y="2858770"/>
            <a:ext cx="7938135" cy="328612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0;p1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IESAAC5NQAAuCYAABAAAAAmAAAACAAAAD2wAAAAAAAA"/>
              </a:ext>
            </a:extLst>
          </p:cNvSpPr>
          <p:nvPr>
            <p:ph type="subTitle" idx="1"/>
          </p:nvPr>
        </p:nvSpPr>
        <p:spPr>
          <a:xfrm>
            <a:off x="728980" y="3007995"/>
            <a:ext cx="8004175" cy="32861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5" name="Google Shape;61;p1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wMAAA4LAABBNQAAlhEAABAAAAAmAAAACAAAAD2wAAAAAAAA"/>
              </a:ext>
            </a:extLst>
          </p:cNvSpPr>
          <p:nvPr>
            <p:ph type="subTitle" idx="2"/>
          </p:nvPr>
        </p:nvSpPr>
        <p:spPr>
          <a:xfrm>
            <a:off x="530225" y="1797050"/>
            <a:ext cx="8126730" cy="106172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;p1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64;p15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OwIAAPIJAABxHwAALycAABAAAAAmAAAACAAAAP//////////"/>
              </a:ext>
            </a:extLst>
          </p:cNvSpPr>
          <p:nvPr/>
        </p:nvSpPr>
        <p:spPr>
          <a:xfrm>
            <a:off x="362585" y="1616710"/>
            <a:ext cx="4748530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5;p1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NkKAABSHgAAMCcAABAAAAAmAAAACAAAAD2wAAAAAAAA"/>
              </a:ext>
            </a:extLst>
          </p:cNvSpPr>
          <p:nvPr>
            <p:ph type="subTitle" idx="1"/>
          </p:nvPr>
        </p:nvSpPr>
        <p:spPr>
          <a:xfrm>
            <a:off x="500380" y="1763395"/>
            <a:ext cx="4428490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66;p1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LCIAANkKAACPNQAAmCUAABAAAAAmAAAACAAAAD2wAAAAAAAA"/>
              </a:ext>
            </a:extLst>
          </p:cNvSpPr>
          <p:nvPr>
            <p:ph type="subTitle" idx="2"/>
          </p:nvPr>
        </p:nvSpPr>
        <p:spPr>
          <a:xfrm>
            <a:off x="5554980" y="1763395"/>
            <a:ext cx="3151505" cy="434784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simple-light-2"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L2/AAD/Hw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13061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400" b="1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3" name="Google Shape;7;p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nAIAALMLAAAHNwAAuScAABAAAAAmAAAACAAAAL2/AAD/HwAA"/>
              </a:ext>
            </a:extLst>
          </p:cNvSpPr>
          <p:nvPr>
            <p:ph type="body" idx="1"/>
          </p:nvPr>
        </p:nvSpPr>
        <p:spPr>
          <a:xfrm>
            <a:off x="424180" y="1901825"/>
            <a:ext cx="8521065" cy="45554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 pitchFamily="0" charset="0"/>
              <a:buChar char="●"/>
              <a:defRPr sz="1700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 marL="914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 pitchFamily="0" charset="0"/>
              <a:buChar char="○"/>
              <a:defRPr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2pPr>
            <a:lvl3pPr marL="1371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3pPr>
            <a:lvl4pPr marL="1828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5pPr>
            <a:lvl6pPr marL="27432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6pPr>
            <a:lvl7pPr marL="3200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7pPr>
            <a:lvl8pPr marL="3657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8pPr>
            <a:lvl9pPr marL="4114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9pPr>
          </a:lstStyle>
          <a:p>
            <a:pPr/>
          </a:p>
        </p:txBody>
      </p:sp>
      <p:sp>
        <p:nvSpPr>
          <p:cNvPr id="4" name="Google Shape;8;p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L2/AAD/HwAA"/>
              </a:ext>
            </a:extLst>
          </p:cNvSpPr>
          <p:nvPr>
            <p:ph type="sldNum" idx="4"/>
          </p:nvPr>
        </p:nvSpPr>
        <p:spPr>
          <a:xfrm>
            <a:off x="8472170" y="6217920"/>
            <a:ext cx="549275" cy="5245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algn="r">
              <a:buNone/>
              <a:defRPr sz="1000" cap="none">
                <a:solidFill>
                  <a:srgbClr val="595959"/>
                </a:solidFill>
              </a:defRPr>
            </a:lvl1pPr>
            <a:lvl2pPr algn="r">
              <a:buNone/>
              <a:defRPr sz="1000" cap="none">
                <a:solidFill>
                  <a:srgbClr val="595959"/>
                </a:solidFill>
              </a:defRPr>
            </a:lvl2pPr>
            <a:lvl3pPr algn="r">
              <a:buNone/>
              <a:defRPr sz="1000" cap="none">
                <a:solidFill>
                  <a:srgbClr val="595959"/>
                </a:solidFill>
              </a:defRPr>
            </a:lvl3pPr>
            <a:lvl4pPr algn="r">
              <a:buNone/>
              <a:defRPr sz="1000" cap="none">
                <a:solidFill>
                  <a:srgbClr val="595959"/>
                </a:solidFill>
              </a:defRPr>
            </a:lvl4pPr>
            <a:lvl5pPr algn="r">
              <a:buNone/>
              <a:defRPr sz="1000" cap="none">
                <a:solidFill>
                  <a:srgbClr val="595959"/>
                </a:solidFill>
              </a:defRPr>
            </a:lvl5pPr>
            <a:lvl6pPr algn="r">
              <a:buNone/>
              <a:defRPr sz="1000" cap="none">
                <a:solidFill>
                  <a:srgbClr val="595959"/>
                </a:solidFill>
              </a:defRPr>
            </a:lvl6pPr>
            <a:lvl7pPr algn="r">
              <a:buNone/>
              <a:defRPr sz="1000" cap="none">
                <a:solidFill>
                  <a:srgbClr val="595959"/>
                </a:solidFill>
              </a:defRPr>
            </a:lvl7pPr>
            <a:lvl8pPr algn="r">
              <a:buNone/>
              <a:defRPr sz="1000" cap="none">
                <a:solidFill>
                  <a:srgbClr val="595959"/>
                </a:solidFill>
              </a:defRPr>
            </a:lvl8pPr>
            <a:lvl9pPr algn="r">
              <a:buNone/>
              <a:defRPr sz="1000" cap="none">
                <a:solidFill>
                  <a:srgbClr val="595959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B5D4F91-DFD6-08B9-98E5-29EC01AB6E7C}" type="slidenum">
              <a:rPr lang="ru-ru" cap="none"/>
              <a:t/>
            </a:fld>
            <a:endParaRPr lang="ru-ru" cap="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sldNum="0" hdr="0" ftr="0" dt="0"/>
  <p:txStyles>
    <p:title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titleStyle>
    <p:body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e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themeOverride" Target="../theme/themeOverride1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30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D8jAAD6IwAAvykAABAAAAAmAAAACAAAADwwAAAAAAAA"/>
              </a:ext>
            </a:extLst>
          </p:cNvSpPr>
          <p:nvPr>
            <p:ph type="subTitle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otus.ru</a:t>
            </a:r>
            <a:endParaRPr lang="ru-ru" cap="none"/>
          </a:p>
        </p:txBody>
      </p:sp>
      <p:sp>
        <p:nvSpPr>
          <p:cNvPr id="3" name="Google Shape;130;p30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MMPAACROAAAfyQ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Онлайн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образование</a:t>
            </a:r>
            <a:endParaRPr lang="ru-ru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31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twQAAMgQAACINQAAsBcAABAAAAAmAAAACAAAAP//////////"/>
              </a:ext>
            </a:extLst>
          </p:cNvSpPr>
          <p:nvPr/>
        </p:nvSpPr>
        <p:spPr>
          <a:xfrm>
            <a:off x="766445" y="2727960"/>
            <a:ext cx="7935595" cy="11226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Меня хорошо видно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&amp;&amp; слышно?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pic>
        <p:nvPicPr>
          <p:cNvPr id="3" name="Google Shape;136;p31"/>
          <p:cNvPicPr>
            <a:extLst>
              <a:ext uri="smNativeData">
                <pr:smNativeData xmlns:pr="smNativeData" xmlns="smNativeData" val="SMDATA_17_bQt8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EYFAAD3GgAAmAkAAEkf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Google Shape;137;p31"/>
          <p:cNvPicPr>
            <a:extLst>
              <a:ext uri="smNativeData">
                <pr:smNativeData xmlns:pr="smNativeData" xmlns="smNativeData" val="SMDATA_17_bQt8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PAQ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LAKAAD3GgAAAg8AAEkf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2;p32"/>
          <p:cNvSpPr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EAAAAAAAAAAT2F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T2FAP///wEAAAAAAAAAAAAAAAAAAAAAAAAAAAAAAAAAAAAAAAAAAAAAAAJ/f38AWVlZA8zMzADAwP8Af39/AAAAAAAAAAAAAAAAAAAAAAAAAAAAIQAAABgAAAAUAAAA4AMAAHUYAAAyDQAAniUAABAAAAAmAAAACAAAAP//////////"/>
              </a:ext>
            </a:extLst>
          </p:cNvSpPr>
          <p:nvPr/>
        </p:nvSpPr>
        <p:spPr>
          <a:xfrm>
            <a:off x="629920" y="3975735"/>
            <a:ext cx="1515110" cy="2139315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144;p3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rHIp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M0AAAB/NwAAghAAABAAAAAmAAAACAAAAD0wAAAAAAAA"/>
              </a:ext>
            </a:extLst>
          </p:cNvSpPr>
          <p:nvPr>
            <p:ph type="title"/>
          </p:nvPr>
        </p:nvSpPr>
        <p:spPr>
          <a:xfrm>
            <a:off x="500380" y="130175"/>
            <a:ext cx="8521065" cy="255333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Защита проекта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Тема: </a:t>
            </a:r>
            <a:r>
              <a:rPr cap="none">
                <a:solidFill>
                  <a:srgbClr val="0000FF"/>
                </a:solidFill>
              </a:rPr>
              <a:t>Микросервис на основе Apache Kafka для обогащения данных из внешнего источника с помощью ZIO</a:t>
            </a:r>
            <a:endParaRPr cap="none">
              <a:solidFill>
                <a:srgbClr val="0000F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145;p3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N8V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cap="none">
                <a:solidFill>
                  <a:srgbClr val="02418B"/>
                </a:solidFill>
              </a:rPr>
              <a:t>Филатов Алексей</a:t>
            </a:r>
            <a:endParaRPr cap="none">
              <a:solidFill>
                <a:srgbClr val="02418B"/>
              </a:solidFill>
            </a:endParaRPr>
          </a:p>
        </p:txBody>
      </p:sp>
      <p:sp>
        <p:nvSpPr>
          <p:cNvPr id="5" name="Google Shape;146;p3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scKB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cAABQNwAApSIAABAAAAAmAAAACAAAAD0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 </a:t>
            </a:r>
            <a:endParaRPr lang="ru-ru" cap="none"/>
          </a:p>
        </p:txBody>
      </p:sp>
      <p:sp>
        <p:nvSpPr>
          <p:cNvPr id="6" name="Google Shape;147;p32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28P2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dAABQNwAAniUAABAAAAAmAAAACAAAAD0wAAAAAAAA"/>
              </a:ext>
            </a:extLst>
          </p:cNvSpPr>
          <p:nvPr>
            <p:ph type="subTitle" idx="4"/>
          </p:nvPr>
        </p:nvSpPr>
        <p:spPr>
          <a:xfrm>
            <a:off x="3135630" y="4737735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Главный инженер по разработке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Сбер</a:t>
            </a:r>
          </a:p>
        </p:txBody>
      </p:sp>
      <p:pic>
        <p:nvPicPr>
          <p:cNvPr id="7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HgEAACpGAAA0Q4AAL8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" y="4008755"/>
            <a:ext cx="1682115" cy="21272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2;p33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AcAABAAAAAmAAAACAAAAD0wAAAAAA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7505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План защиты</a:t>
            </a:r>
            <a:endParaRPr lang="ru-ru" cap="none"/>
          </a:p>
        </p:txBody>
      </p:sp>
      <p:sp>
        <p:nvSpPr>
          <p:cNvPr id="3" name="Google Shape;153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qKdA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0IAAADGQAA4wsAABAAAAAmAAAACAAAAP//////////"/>
              </a:ext>
            </a:extLst>
          </p:cNvSpPr>
          <p:nvPr/>
        </p:nvSpPr>
        <p:spPr>
          <a:xfrm>
            <a:off x="680720" y="143065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Цели проекта 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4" name="Google Shape;154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dydo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N4NAAADGQAA9BAAABAAAAAmAAAACAAAAP//////////"/>
              </a:ext>
            </a:extLst>
          </p:cNvSpPr>
          <p:nvPr/>
        </p:nvSpPr>
        <p:spPr>
          <a:xfrm>
            <a:off x="680720" y="225425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планировалось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5" name="Google Shape;155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554F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AQTAAADGQAAGhYAABAAAAAmAAAACAAAAP//////////"/>
              </a:ext>
            </a:extLst>
          </p:cNvSpPr>
          <p:nvPr/>
        </p:nvSpPr>
        <p:spPr>
          <a:xfrm>
            <a:off x="680720" y="309118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Используемые технологии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6" name="Google Shape;156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RNBp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CoYAAADGQAAQBsAABAAAAAmAAAACAAAAP//////////"/>
              </a:ext>
            </a:extLst>
          </p:cNvSpPr>
          <p:nvPr/>
        </p:nvSpPr>
        <p:spPr>
          <a:xfrm>
            <a:off x="680720" y="392811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получилось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7" name="Google Shape;157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QBpU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PkcAAADGQAADyAAABAAAAAmAAAACAAAAP//////////"/>
              </a:ext>
            </a:extLst>
          </p:cNvSpPr>
          <p:nvPr/>
        </p:nvSpPr>
        <p:spPr>
          <a:xfrm>
            <a:off x="680720" y="470979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Схемы/архитектура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8" name="Google Shape;158;p33"/>
          <p:cNvSpPr>
            <a:extLst>
              <a:ext uri="smNativeData">
                <pr:smNativeData xmlns:pr="smNativeData" xmlns="smNativeData" val="SMDATA_15_bQt8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g4r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khAAADGQAA3yQAABAAAAAmAAAACAAAAP//////////"/>
              </a:ext>
            </a:extLst>
          </p:cNvSpPr>
          <p:nvPr/>
        </p:nvSpPr>
        <p:spPr>
          <a:xfrm>
            <a:off x="680720" y="549211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Выводы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cxnSp>
        <p:nvCxnSpPr>
          <p:cNvPr id="9" name="Google Shape;159;p33"/>
          <p:cNvCxnSpPr>
            <a:stCxn id="3" idx="1"/>
            <a:endCxn id="4" idx="1"/>
            <a:extLst>
              <a:ext uri="smNativeData">
                <pr:smNativeData xmlns:pr="smNativeData" xmlns="smNativeData" val="SMDATA_15_bQt8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kM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gKAAAwBAAAaQ8AABAAAAAmAAAACAAAAP//////////"/>
              </a:ext>
            </a:extLst>
          </p:cNvCxnSpPr>
          <p:nvPr/>
        </p:nvCxnSpPr>
        <p:spPr>
          <a:xfrm>
            <a:off x="680720" y="1681480"/>
            <a:ext cx="12700" cy="823595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0" name="Google Shape;160;p33"/>
          <p:cNvCxnSpPr>
            <a:stCxn id="4" idx="1"/>
            <a:endCxn id="5" idx="1"/>
            <a:extLst>
              <a:ext uri="smNativeData">
                <pr:smNativeData xmlns:pr="smNativeData" xmlns="smNativeData" val="SMDATA_15_bQt8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GkPAAAwBAAAjxQAABAAAAAmAAAACAAAAP//////////"/>
              </a:ext>
            </a:extLst>
          </p:cNvCxnSpPr>
          <p:nvPr/>
        </p:nvCxnSpPr>
        <p:spPr>
          <a:xfrm>
            <a:off x="680720" y="250507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1" name="Google Shape;161;p33"/>
          <p:cNvCxnSpPr>
            <a:stCxn id="5" idx="1"/>
            <a:endCxn id="6" idx="1"/>
            <a:extLst>
              <a:ext uri="smNativeData">
                <pr:smNativeData xmlns:pr="smNativeData" xmlns="smNativeData" val="SMDATA_15_bQt8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B++y0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I8UAAAwBAAAtRkAABAAAAAmAAAACAAAAP//////////"/>
              </a:ext>
            </a:extLst>
          </p:cNvCxnSpPr>
          <p:nvPr/>
        </p:nvCxnSpPr>
        <p:spPr>
          <a:xfrm>
            <a:off x="680720" y="334200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2" name="Google Shape;162;p33"/>
          <p:cNvCxnSpPr>
            <a:extLst>
              <a:ext uri="smNativeData">
                <pr:smNativeData xmlns:pr="smNativeData" xmlns="smNativeData" val="SMDATA_15_bQt8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PUZAAAxBAAAGx8AABAAAAAmAAAACAAAAP//////////"/>
              </a:ext>
            </a:extLst>
          </p:cNvCxnSpPr>
          <p:nvPr/>
        </p:nvCxnSpPr>
        <p:spPr>
          <a:xfrm>
            <a:off x="680720" y="4219575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3" name="Google Shape;163;p33"/>
          <p:cNvCxnSpPr>
            <a:extLst>
              <a:ext uri="smNativeData">
                <pr:smNativeData xmlns:pr="smNativeData" xmlns="smNativeData" val="SMDATA_15_bQt8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ofAAAxBAAAgCQAABAAAAAmAAAACAAAAP//////////"/>
              </a:ext>
            </a:extLst>
          </p:cNvCxnSpPr>
          <p:nvPr/>
        </p:nvCxnSpPr>
        <p:spPr>
          <a:xfrm>
            <a:off x="680720" y="5096510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8;p34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P96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Цели проекта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Разработать микросервис на основе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Применить инструменты экосистемы ZIO для работы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Определить методы работы ZIO Kafka с внешними сервисами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Понять и применить общий архитектурный подход к работе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5;p35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l3mg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планировалось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ZIO Producer и ZIO Consumer для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механизм обогащения сырых данных из внешнего источника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Настроить систему управления и мониторинга на основе gui Conductor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2;p36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eGcz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Используемые технологии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14420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37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htu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получилось</a:t>
            </a:r>
            <a:r>
              <a:t>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Dww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gui Conductor с загруженными сырыми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NwDAADmDgAAHSAAAMM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2421890"/>
            <a:ext cx="4592955" cy="371665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Основной экран gui Conductor с подключенным кластером Kafka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8DAACGDgAAOyMAAKQl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9445" y="2360930"/>
            <a:ext cx="5087620" cy="375793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мониторинга состояния кластера  gui Conductor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wDAADNDgAA7yIAAA4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" y="2406015"/>
            <a:ext cx="5041265" cy="394271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Монадический парсер текста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CEEAADlDgAAuS8AAKMk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" y="2421255"/>
            <a:ext cx="7086600" cy="35344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топика с обогащенными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KADAACZDgAAIiMAAKU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89280" y="2372995"/>
            <a:ext cx="5121910" cy="40716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Ссылка на репозиторий с исходными кодами:</a:t>
            </a:r>
          </a:p>
          <a:p>
            <a:pPr>
              <a:defRPr b="1" cap="none">
                <a:solidFill>
                  <a:srgbClr val="0000FF"/>
                </a:solidFill>
              </a:defRPr>
            </a:pPr>
            <a:r>
              <a:t>https://github.com/AlekseyFilatov/-OTUS_hw_kafka/tree/project/project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6;p38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tUGR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+gIAAIICAABlNwAAiwoAABAAAAAmAAAACAAAAD0wAAAAAAAA"/>
              </a:ext>
            </a:extLst>
          </p:cNvSpPr>
          <p:nvPr>
            <p:ph type="title"/>
          </p:nvPr>
        </p:nvSpPr>
        <p:spPr>
          <a:xfrm>
            <a:off x="483870" y="407670"/>
            <a:ext cx="8521065" cy="130619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Схемы (архитектура, БД)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" name="Изображение1"/>
          <p:cNvPicPr>
            <a:picLocks noChangeAspect="1"/>
            <a:extLst>
              <a:ext uri="smNativeData">
                <pr:smNativeData xmlns:pr="smNativeData" xmlns="smNativeData" val="SMDATA_17_bQt8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UDAAB5CwAAQzcAAMkc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490855" y="1864995"/>
            <a:ext cx="8492490" cy="28143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2;p39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+nzT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Выводы и планы по развитию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9311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 является удобным и надежным инструментом для хранения и обогащения данных в микросервисной архитектуре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 позволяет использовать эффективную среду ZIO для потоковой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Требуется настроить мониторинг не только непосредственно инструментов Apache Kafka и ZIO, но и среды их выполнения используя такие средства как Prometheus и Grafana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405421" type="min" val="381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9;p40"/>
          <p:cNvSpPr>
            <a:spLocks noGrp="1" noChangeArrowheads="1"/>
            <a:extLst>
              <a:ext uri="smNativeData">
                <pr:smNativeData xmlns:pr="smNativeData" xmlns="smNativeData" val="SMDATA_15_bQt8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x8t8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4gUAAEADAABiNAAAziQAABAAAAAmAAAACAAAAD0wAAAAAAAA"/>
              </a:ext>
            </a:extLst>
          </p:cNvSpPr>
          <p:nvPr>
            <p:ph type="title"/>
          </p:nvPr>
        </p:nvSpPr>
        <p:spPr>
          <a:xfrm>
            <a:off x="956310" y="528320"/>
            <a:ext cx="7559040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Спасибо за внимание!</a:t>
            </a:r>
            <a:br/>
            <a:endParaRPr sz="1400" b="0" cap="none">
              <a:solidFill>
                <a:srgbClr val="000000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EEEEEE"/>
      </a:dk2>
      <a:lt2>
        <a:srgbClr val="595959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F3F3F3"/>
      </a:dk2>
      <a:lt2>
        <a:srgbClr val="158158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3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4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5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6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7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8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9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0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AlexFil</cp:lastModifiedBy>
  <cp:revision>0</cp:revision>
  <dcterms:created xsi:type="dcterms:W3CDTF">2024-06-24T08:13:17Z</dcterms:created>
  <dcterms:modified xsi:type="dcterms:W3CDTF">2024-06-26T12:37:01Z</dcterms:modified>
</cp:coreProperties>
</file>