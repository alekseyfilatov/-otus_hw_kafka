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embedTrueTypeFonts="1" saveSubsetFonts="0">
  <p:sldMasterIdLst>
    <p:sldMasterId id="214748367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5" r:id="rId15"/>
    <p:sldId id="276" r:id="rId16"/>
    <p:sldId id="277" r:id="rId17"/>
    <p:sldId id="278" r:id="rId18"/>
    <p:sldId id="279" r:id="rId19"/>
    <p:sldId id="264" r:id="rId20"/>
    <p:sldId id="265" r:id="rId21"/>
    <p:sldId id="266" r:id="rId22"/>
  </p:sldIdLst>
  <p:sldSz cx="9144000" cy="6858000"/>
  <p:notesSz cx="6858000" cy="9144000"/>
  <p:embeddedFontLst>
    <p:embeddedFont>
      <p:font typeface="Roboto" pitchFamily="0" charset="0"/>
      <p:regular r:id="rId23"/>
      <p:bold r:id="rId24"/>
      <p:italic r:id="rId25"/>
    </p:embeddedFont>
  </p:embeddedFontLst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1pPr>
    <a:lvl2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2pPr>
    <a:lvl3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3pPr>
    <a:lvl4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4pPr>
    <a:lvl5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5pPr>
    <a:lvl6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6pPr>
    <a:lvl7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7pPr>
    <a:lvl8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8pPr>
    <a:lvl9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19223342" val="1215" revOS="4"/>
      <pr:smFileRevision xmlns:pr="smNativeData" xmlns="smNativeData" dt="1719223342" val="101"/>
      <pr:guideOptions xmlns:pr="smNativeData" xmlns="smNativeData" dt="1719223342" snapToBorder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Grid="0">
      <p:cViewPr varScale="1">
        <p:scale>
          <a:sx n="47" d="100"/>
          <a:sy n="47" d="100"/>
        </p:scale>
        <p:origin x="1370" y="216"/>
      </p:cViewPr>
      <p:guideLst x="0" y="0">
        <p:guide orient="horz" pos="4082"/>
        <p:guide orient="horz" pos="238"/>
        <p:guide pos="5533"/>
        <p:guide pos="227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4" d="100"/>
        <a:sy n="14" d="100"/>
      </p:scale>
      <p:origin x="0" y="0"/>
    </p:cViewPr>
  </p:sorterViewPr>
  <p:notesViewPr>
    <p:cSldViewPr snapToGrid="0">
      <p:cViewPr>
        <p:scale>
          <a:sx n="47" d="100"/>
          <a:sy n="47" d="100"/>
        </p:scale>
        <p:origin x="1370" y="216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font" Target="fonts/font1.fntdata"/><Relationship Id="rId24" Type="http://schemas.openxmlformats.org/officeDocument/2006/relationships/font" Target="fonts/font2.fntdata"/><Relationship Id="rId25" Type="http://schemas.openxmlformats.org/officeDocument/2006/relationships/font" Target="fonts/font3.fntdata"/></Relationships>
</file>

<file path=ppt/notesMasters/_rels/notesMaster1.xml.rels><?xml version="1.0" encoding="UTF-8" standalone="yes" 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;n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BY3H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AVgVgKAAAAACgAAAAoAAAAZAAAAGQAAAAAAAAAzMzMAAAAAABQAAAAUAAAAGQAAABkAAAAAAAAABcAAAAUAAAAAAAAAAAAAAD/fwAA/38AAAAAAAAJAAAABAAAACw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D/Hw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  <a:noFill/>
          <a:ln w="9525" cap="flat" cmpd="sng" algn="ctr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3" name="Google Shape;4;n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BY3H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AVgVg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2/AAD/Hw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 cap="none"/>
            </a:lvl1pPr>
            <a:lvl2pPr marL="9144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 cap="none"/>
            </a:lvl2pPr>
            <a:lvl3pPr marL="13716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 cap="none"/>
            </a:lvl3pPr>
            <a:lvl4pPr marL="18288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 cap="none"/>
            </a:lvl4pPr>
            <a:lvl5pPr marL="22860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 cap="none"/>
            </a:lvl5pPr>
            <a:lvl6pPr marL="27432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 cap="none"/>
            </a:lvl6pPr>
            <a:lvl7pPr marL="32004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 cap="none"/>
            </a:lvl7pPr>
            <a:lvl8pPr marL="36576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 cap="none"/>
            </a:lvl8pPr>
            <a:lvl9pPr marL="41148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 cap="none"/>
            </a:lvl9pPr>
          </a:lstStyle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1pPr>
    <a:lvl2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2pPr>
    <a:lvl3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3pPr>
    <a:lvl4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4pPr>
    <a:lvl5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5pPr>
    <a:lvl6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6pPr>
    <a:lvl7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7pPr>
    <a:lvl8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8pPr>
    <a:lvl9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9pPr>
  </p:notesStyle>
</p:notesMaster>
</file>

<file path=ppt/notesSlides/_rels/notesSlide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themeOverride" Target="../theme/themeOverride2.xml"/></Relationships>
</file>

<file path=ppt/notesSlides/_rels/notesSlide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themeOverride" Target="../theme/themeOverride3.xml"/></Relationships>
</file>

<file path=ppt/notesSlides/_rels/notesSlide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themeOverride" Target="../theme/themeOverride4.xml"/></Relationships>
</file>

<file path=ppt/notesSlides/_rels/notesSlide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themeOverride" Target="../theme/themeOverride5.xml"/></Relationships>
</file>

<file path=ppt/notesSlides/_rels/notesSlide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Relationship Id="rId3" Type="http://schemas.openxmlformats.org/officeDocument/2006/relationships/themeOverride" Target="../theme/themeOverride6.xml"/></Relationships>
</file>

<file path=ppt/notesSlides/_rels/notesSlide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themeOverride" Target="../theme/themeOverride7.xml"/></Relationships>
</file>

<file path=ppt/notesSlides/_rels/notesSlide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Relationship Id="rId3" Type="http://schemas.openxmlformats.org/officeDocument/2006/relationships/themeOverride" Target="../theme/themeOverride8.xml"/></Relationships>
</file>

<file path=ppt/notesSlides/_rels/notesSlide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Relationship Id="rId3" Type="http://schemas.openxmlformats.org/officeDocument/2006/relationships/themeOverride" Target="../theme/themeOverride9.xml"/></Relationships>
</file>

<file path=ppt/notesSlides/_rels/notesSlide9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Relationship Id="rId3" Type="http://schemas.openxmlformats.org/officeDocument/2006/relationships/themeOverride" Target="../theme/themeOverride10.xml"/></Relationships>
</file>

<file path=ppt/notesSlides/_rels/notesSlide10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Relationship Id="rId3" Type="http://schemas.openxmlformats.org/officeDocument/2006/relationships/themeOverride" Target="../theme/themeOverride11.xml"/></Relationships>
</file>

<file path=ppt/notesSlides/_rels/notesSlide1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Relationship Id="rId3" Type="http://schemas.openxmlformats.org/officeDocument/2006/relationships/themeOverride" Target="../theme/themeOverride12.xml"/></Relationships>
</file>

<file path=ppt/notesSlides/notesSlide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6;p:notes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27;p:notes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2;gde823becd0_0_11:notes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33;gde823becd0_0_11:notes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9;gde823becd0_0_40:notes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40;gde823becd0_0_40:notes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/Y+1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49;ge83ec99fb9_1_77:notes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EXJ0L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50;ge83ec99fb9_1_77:notes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65;gdf29b9fb24_0_34:notes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66;gdf29b9fb24_0_34:notes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DFRIq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2;ge83ec99fb9_1_154:notes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73;ge83ec99fb9_1_154:notes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KMkqf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9;ge83ec99fb9_1_160:notes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80;ge83ec99fb9_1_160:notes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6;gdf29b9fb24_0_69:notes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87;gdf29b9fb24_0_69:notes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9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3;gdf29b9fb24_0_85:notes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94;gdf29b9fb24_0_85:notes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PDbzX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10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9;ge83ec99fb9_1_167:notes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L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200;ge83ec99fb9_1_167:notes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K8Us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1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6;ge04b8b6756_0_36:notes"/>
          <p:cNvSpPr>
            <a:spLocks noGrp="1" noChangeArrowheads="1"/>
            <a:extLst>
              <a:ext uri="smNativeData">
                <pr:smNativeData xmlns:pr="smNativeData" xmlns="smNativeData" val="SMDATA_15_LkR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207;ge04b8b6756_0_36:notes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Ga1c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0;p2"/>
          <p:cNvPicPr>
            <a:extLst>
              <a:ext uri="smNativeData">
                <pr:smNativeData xmlns:pr="smNativeData" xmlns="smNativeData" val="SMDATA_17_LkR5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lAw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OT////r////XDgAAEUq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" y="-13335"/>
            <a:ext cx="9179560" cy="688467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Google Shape;11;p2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wQAAD8jAAD6IwAAvykAABAAAAAmAAAACAAAAD2wAAAAAAAA"/>
              </a:ext>
            </a:extLst>
          </p:cNvSpPr>
          <p:nvPr>
            <p:ph type="subTitle" idx="1"/>
          </p:nvPr>
        </p:nvSpPr>
        <p:spPr>
          <a:xfrm>
            <a:off x="796925" y="5729605"/>
            <a:ext cx="5051425" cy="105664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1" cap="none">
                <a:solidFill>
                  <a:srgbClr val="FFFFFF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9pPr>
          </a:lstStyle>
          <a:p>
            <a:pPr/>
          </a:p>
        </p:txBody>
      </p:sp>
      <p:sp>
        <p:nvSpPr>
          <p:cNvPr id="4" name="Google Shape;12;p2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wQAAMMPAACROAAAfyQAABAAAAAmAAAACAAAAD2wAAAAAAAA"/>
              </a:ext>
            </a:extLst>
          </p:cNvSpPr>
          <p:nvPr>
            <p:ph type="title"/>
          </p:nvPr>
        </p:nvSpPr>
        <p:spPr>
          <a:xfrm>
            <a:off x="796925" y="2562225"/>
            <a:ext cx="8398510" cy="337058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>
                <a:solidFill>
                  <a:srgbClr val="FFFFFF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4;p3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EoPAADlMwAAMhYAABAAAAAmAAAACAAAAL2wAAAAAAAA"/>
              </a:ext>
            </a:extLst>
          </p:cNvSpPr>
          <p:nvPr>
            <p:ph type="title"/>
          </p:nvPr>
        </p:nvSpPr>
        <p:spPr>
          <a:xfrm>
            <a:off x="500380" y="2485390"/>
            <a:ext cx="7935595" cy="1122680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900" cap="none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3600" cap="none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3600" cap="none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3600" cap="none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3600" cap="none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3600" cap="none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3600" cap="none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3600" cap="none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3600" cap="none"/>
            </a:lvl9pPr>
          </a:lstStyle>
          <a:p>
            <a:pPr/>
          </a:p>
        </p:txBody>
      </p:sp>
      <p:sp>
        <p:nvSpPr>
          <p:cNvPr id="3" name="Google Shape;15;p3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AAAA4-EAD2-8F5C-9C62-1C09E42C6A49}" type="slidenum">
              <a:rPr lang="ru-ru" cap="none"/>
              <a:t/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;p4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hrcw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18;p4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MLAAB/NwAAuScAABAAAAAmAAAACAAAAD2wAAAAAAAA"/>
              </a:ext>
            </a:extLst>
          </p:cNvSpPr>
          <p:nvPr>
            <p:ph idx="1"/>
          </p:nvPr>
        </p:nvSpPr>
        <p:spPr>
          <a:xfrm>
            <a:off x="500380" y="1901825"/>
            <a:ext cx="8521065" cy="455549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3365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700"/>
              <a:buChar char="●"/>
            </a:lvl1pPr>
            <a:lvl2pPr marL="9144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2pPr>
            <a:lvl3pPr marL="13716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3pPr>
            <a:lvl4pPr marL="18288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4pPr>
            <a:lvl5pPr marL="22860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lvl5pPr>
            <a:lvl6pPr marL="27432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6pPr>
            <a:lvl7pPr marL="32004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7pPr>
            <a:lvl8pPr marL="36576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8pPr>
            <a:lvl9pPr marL="41148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9pPr>
          </a:lstStyle>
          <a:p>
            <a:pPr/>
          </a:p>
        </p:txBody>
      </p:sp>
      <p:sp>
        <p:nvSpPr>
          <p:cNvPr id="4" name="Google Shape;19;p4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AC551-1FD2-8F33-9C62-E9668B2C6ABC}" type="slidenum">
              <a:rPr lang="ru-ru" cap="none"/>
              <a:t/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1;p5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AC90C-42D2-8F3F-9C62-B46A872C6AE1}" type="slidenum">
              <a:rPr lang="ru-ru" cap="none"/>
              <a:t/>
            </a:fld>
            <a:endParaRPr lang="ru-ru" cap="none"/>
          </a:p>
        </p:txBody>
      </p:sp>
      <p:sp>
        <p:nvSpPr>
          <p:cNvPr id="3" name="Google Shape;22;p5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0AX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wGAAB/NwAAARcAABAAAAAmAAAACAAAAD2wAAAAAAAA"/>
              </a:ext>
            </a:extLst>
          </p:cNvSpPr>
          <p:nvPr>
            <p:ph type="title"/>
          </p:nvPr>
        </p:nvSpPr>
        <p:spPr>
          <a:xfrm>
            <a:off x="500380" y="1094740"/>
            <a:ext cx="8521065" cy="264477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700" cap="none"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4" name="Google Shape;23;p5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MADAAALMwAAQQoAABAAAAAmAAAACAAAAD2wAAAAAAAA"/>
              </a:ext>
            </a:extLst>
          </p:cNvSpPr>
          <p:nvPr>
            <p:ph type="subTitle" idx="1"/>
          </p:nvPr>
        </p:nvSpPr>
        <p:spPr>
          <a:xfrm>
            <a:off x="500380" y="609600"/>
            <a:ext cx="7797165" cy="105727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9pPr>
          </a:lstStyle>
          <a:p>
            <a:pPr/>
          </a:p>
        </p:txBody>
      </p:sp>
      <p:sp>
        <p:nvSpPr>
          <p:cNvPr id="5" name="Google Shape;24;p5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hMAAK8ZAABQNwAAgB4AABAAAAAmAAAACAAAAD2wAAAAAAAA"/>
              </a:ext>
            </a:extLst>
          </p:cNvSpPr>
          <p:nvPr>
            <p:ph type="subTitle" idx="2"/>
          </p:nvPr>
        </p:nvSpPr>
        <p:spPr>
          <a:xfrm>
            <a:off x="3135630" y="4175125"/>
            <a:ext cx="5855970" cy="78295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b="1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9pPr>
          </a:lstStyle>
          <a:p>
            <a:pPr/>
          </a:p>
        </p:txBody>
      </p:sp>
      <p:sp>
        <p:nvSpPr>
          <p:cNvPr id="6" name="Google Shape;25;p5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Dvvg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hMAACUcAABQNwAApSIAABAAAAAmAAAACAAAAD2wAAAAAAAA"/>
              </a:ext>
            </a:extLst>
          </p:cNvSpPr>
          <p:nvPr>
            <p:ph type="subTitle" idx="3"/>
          </p:nvPr>
        </p:nvSpPr>
        <p:spPr>
          <a:xfrm>
            <a:off x="3135630" y="4575175"/>
            <a:ext cx="5855970" cy="105664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7" name="Google Shape;26;p5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Amcw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hMAAEofAABQNwAAwycAABAAAAAmAAAACAAAAD2wAAAAAAAA"/>
              </a:ext>
            </a:extLst>
          </p:cNvSpPr>
          <p:nvPr>
            <p:ph type="subTitle" idx="4"/>
          </p:nvPr>
        </p:nvSpPr>
        <p:spPr>
          <a:xfrm>
            <a:off x="3135630" y="5086350"/>
            <a:ext cx="5855970" cy="137731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8;p6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ACB68-26D2-8F3D-9C62-D068852C6A85}" type="slidenum">
              <a:rPr lang="ru-ru" cap="none"/>
              <a:t/>
            </a:fld>
            <a:endParaRPr lang="ru-ru" cap="none"/>
          </a:p>
        </p:txBody>
      </p:sp>
      <p:sp>
        <p:nvSpPr>
          <p:cNvPr id="3" name="Google Shape;29;p6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Dvvg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4" name="Google Shape;30;p6"/>
          <p:cNvSpPr>
            <a:spLocks noGrp="1" noChangeArrowheads="1"/>
            <a:extLst>
              <a:ext uri="smNativeData">
                <pr:smNativeData xmlns:pr="smNativeData" xmlns="smNativeData" val="SMDATA_15_LkR5ZhMAAAAlAAAAZAAAAE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lOD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XAgAALAKAAAUJAAAtiYAABAgAAAmAAAACAAAAD2wAAAAAAAA"/>
              </a:ext>
            </a:extLst>
          </p:cNvSpPr>
          <p:nvPr>
            <p:ph idx="1"/>
          </p:nvPr>
        </p:nvSpPr>
        <p:spPr>
          <a:xfrm>
            <a:off x="1358900" y="1737360"/>
            <a:ext cx="4505960" cy="455549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3810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  <a:defRPr sz="2400" b="0" cap="none">
                <a:solidFill>
                  <a:srgbClr val="000000"/>
                </a:solidFill>
              </a:defRPr>
            </a:lvl1pPr>
            <a:lvl2pPr marL="914400" indent="-3302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cap="none">
                <a:solidFill>
                  <a:srgbClr val="000000"/>
                </a:solidFill>
              </a:defRPr>
            </a:lvl2pPr>
            <a:lvl3pPr marL="13716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3pPr>
            <a:lvl4pPr marL="18288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4pPr>
            <a:lvl5pPr marL="22860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5pPr>
            <a:lvl6pPr marL="27432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6pPr>
            <a:lvl7pPr marL="32004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7pPr>
            <a:lvl8pPr marL="36576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8pPr>
            <a:lvl9pPr marL="4114800" indent="-317500">
              <a:lnSpc>
                <a:spcPct val="16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■"/>
            </a:lvl9pPr>
          </a:lstStyle>
          <a:p>
            <a:p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2;p7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AD9DC-92D2-8F2F-9C62-647A972C6A31}" type="slidenum">
              <a:rPr lang="ru-ru" cap="none"/>
              <a:t/>
            </a:fld>
            <a:endParaRPr lang="ru-ru" cap="none"/>
          </a:p>
        </p:txBody>
      </p:sp>
      <p:pic>
        <p:nvPicPr>
          <p:cNvPr id="3" name="Google Shape;33;p7"/>
          <p:cNvPicPr>
            <a:extLst>
              <a:ext uri="smNativeData">
                <pr:smNativeData xmlns:pr="smNativeData" xmlns="smNativeData" val="SMDATA_17_LkR5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CwmIhj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AAAAAAAAAAAQDgAADAq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Google Shape;34;p7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0AO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gUAAEADAAA5NQAAziQAABAAAAAmAAAACAAAAL2wAAAAAAAA"/>
              </a:ext>
            </a:extLst>
          </p:cNvSpPr>
          <p:nvPr>
            <p:ph type="title"/>
          </p:nvPr>
        </p:nvSpPr>
        <p:spPr>
          <a:xfrm>
            <a:off x="956310" y="528320"/>
            <a:ext cx="7695565" cy="5454650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4900" cap="none">
                <a:solidFill>
                  <a:srgbClr val="FFFFFF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 cap="none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 cap="none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 cap="none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 cap="none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 cap="none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 cap="none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 cap="none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 cap="none"/>
            </a:lvl9pPr>
          </a:lstStyle>
          <a:p>
            <a:p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6;p8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0AX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37;p8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RoAAJQQAADFNQAAZRUAABAAAAAmAAAACAAAAD2wAAAAAAAA"/>
              </a:ext>
            </a:extLst>
          </p:cNvSpPr>
          <p:nvPr>
            <p:ph type="subTitle" idx="1"/>
          </p:nvPr>
        </p:nvSpPr>
        <p:spPr>
          <a:xfrm>
            <a:off x="4349115" y="2694940"/>
            <a:ext cx="4391660" cy="78295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00" b="1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4" name="Google Shape;38;p8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RoAAPoUAAD6NgAAtCUAABAAAAAmAAAACAAAAD2wAAAAAAAA"/>
              </a:ext>
            </a:extLst>
          </p:cNvSpPr>
          <p:nvPr>
            <p:ph type="subTitle" idx="2"/>
          </p:nvPr>
        </p:nvSpPr>
        <p:spPr>
          <a:xfrm>
            <a:off x="4349115" y="3409950"/>
            <a:ext cx="4587875" cy="271907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0;p9"/>
          <p:cNvSpPr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AAAAAEAAAAAAAAAAAAAAAAAAAAAAAAAAAAAAAAAAAAAAAAAAAAAAAJ/f38AAAAAA8zMzADAwP8Af39/AAAAAAAAAAAAAAAAAAAAAAAAAAAAIQAAABgAAAAUAAAAIBwAAAAAAABAOAAAMCoAABAAAAAmAAAACAAAAP//////////"/>
              </a:ext>
            </a:extLst>
          </p:cNvSpPr>
          <p:nvPr/>
        </p:nvSpPr>
        <p:spPr>
          <a:xfrm>
            <a:off x="4572000" y="0"/>
            <a:ext cx="4572000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Google Shape;41;p9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C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vwMAAAQKAACiHAAALBYAABAAAAAmAAAACAAAAL2wAAAAAAAA"/>
              </a:ext>
            </a:extLst>
          </p:cNvSpPr>
          <p:nvPr>
            <p:ph type="title"/>
          </p:nvPr>
        </p:nvSpPr>
        <p:spPr>
          <a:xfrm>
            <a:off x="608965" y="1628140"/>
            <a:ext cx="4045585" cy="1976120"/>
          </a:xfrm>
        </p:spPr>
        <p:txBody>
          <a:bodyPr vert="horz" wrap="square" lIns="91440" tIns="91440" rIns="91440" bIns="91440" numCol="1" spcCol="215900" anchor="b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200" cap="none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200" cap="none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200" cap="none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200" cap="none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200" cap="none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200" cap="none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200" cap="none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200" cap="none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200" cap="none"/>
            </a:lvl9pPr>
          </a:lstStyle>
          <a:p>
            <a:pPr/>
          </a:p>
        </p:txBody>
      </p:sp>
      <p:sp>
        <p:nvSpPr>
          <p:cNvPr id="4" name="Google Shape;42;p9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vwMAAOsXAACiHAAADSIAABAAAAAmAAAACAAAAD2wAAAAAAAA"/>
              </a:ext>
            </a:extLst>
          </p:cNvSpPr>
          <p:nvPr>
            <p:ph type="subTitle" idx="1"/>
          </p:nvPr>
        </p:nvSpPr>
        <p:spPr>
          <a:xfrm>
            <a:off x="608965" y="3888105"/>
            <a:ext cx="4045585" cy="164719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9pPr>
          </a:lstStyle>
          <a:p>
            <a:pPr/>
          </a:p>
        </p:txBody>
      </p:sp>
      <p:sp>
        <p:nvSpPr>
          <p:cNvPr id="5" name="Google Shape;43;p9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M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x4AAPAFAAD9NQAAPyQAABAAAAAmAAAACAAAAL2wAAAAAAAA"/>
              </a:ext>
            </a:extLst>
          </p:cNvSpPr>
          <p:nvPr>
            <p:ph idx="2"/>
          </p:nvPr>
        </p:nvSpPr>
        <p:spPr>
          <a:xfrm>
            <a:off x="4939665" y="965200"/>
            <a:ext cx="3836670" cy="4926965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 marL="45720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9pPr>
          </a:lstStyle>
          <a:p>
            <a:pPr/>
          </a:p>
        </p:txBody>
      </p:sp>
      <p:sp>
        <p:nvSpPr>
          <p:cNvPr id="6" name="Google Shape;44;p9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AA099-D7D2-8F56-9C62-2103EE2C6A74}" type="slidenum">
              <a:rPr lang="ru-ru" cap="none"/>
              <a:t>‹#›</a:t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6;p10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A96C6-88D2-8F60-9C62-7E35D82C6A2B}" type="slidenum">
              <a:rPr lang="ru-ru" cap="none"/>
              <a:t>‹#›</a:t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;p1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0;p12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51;p12"/>
          <p:cNvSpPr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EAAAAAAAAA+/v+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+/v+AP///wEAAAAAAAAAAAAAAAAAAAAAAAAAAAAAAAAAAAAAAAAAAAAAAAJ/f38AWVlZA8zMzADAwP8Af39/AAAAAAAAAAAAAAAAAAAAAAAAAAAAIQAAABgAAAAUAAAAuwMAAPIJAACQNAAALycAABAAAAAmAAAACAAAAP//////////"/>
              </a:ext>
            </a:extLst>
          </p:cNvSpPr>
          <p:nvPr/>
        </p:nvSpPr>
        <p:spPr>
          <a:xfrm>
            <a:off x="606425" y="1616710"/>
            <a:ext cx="7938135" cy="4752975"/>
          </a:xfrm>
          <a:prstGeom prst="rect">
            <a:avLst/>
          </a:prstGeom>
          <a:solidFill>
            <a:srgbClr val="FBFBFE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52;p12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QAANkKAAC5NQAAMCcAABAAAAAmAAAACAAAAD2wAAAAAAAA"/>
              </a:ext>
            </a:extLst>
          </p:cNvSpPr>
          <p:nvPr>
            <p:ph type="subTitle" idx="1"/>
          </p:nvPr>
        </p:nvSpPr>
        <p:spPr>
          <a:xfrm>
            <a:off x="728980" y="1763395"/>
            <a:ext cx="8004175" cy="46069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4;p13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55;p13"/>
          <p:cNvSpPr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EAAAAAAAAAISEhDf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gAAAAEAAAAAAAAAAAAAAAAAAAAAAAAAAAAAAAAAAAAAAAAAAAAAAAJ/f38AAAAAA8zMzADAwP8Af39/AAAAAAAAAAAAAAAAAAAAAAAAAAAAIQAAABgAAAAUAAAAuwMAAPIJAACQNAAALycAABAAAAAmAAAACAAAAP//////////"/>
              </a:ext>
            </a:extLst>
          </p:cNvSpPr>
          <p:nvPr/>
        </p:nvSpPr>
        <p:spPr>
          <a:xfrm>
            <a:off x="606425" y="1616710"/>
            <a:ext cx="7938135" cy="475297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56;p13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QAANkKAAC5NQAAMCcAABAAAAAmAAAACAAAAD2wAAAAAAAA"/>
              </a:ext>
            </a:extLst>
          </p:cNvSpPr>
          <p:nvPr>
            <p:ph type="subTitle" idx="1"/>
          </p:nvPr>
        </p:nvSpPr>
        <p:spPr>
          <a:xfrm>
            <a:off x="728980" y="1763395"/>
            <a:ext cx="8004175" cy="46069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solidFill>
                  <a:srgbClr val="FFFFFF"/>
                </a:solidFill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2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8;p14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59;p14"/>
          <p:cNvSpPr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EAAAAAAAAA+/v+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+/v+AAAAAAEAAAAAAAAAAAAAAAAAAAAAAAAAAAAAAAAAAAAAAAAAAAAAAAJ/f38AAAAAA8zMzADAwP8Af39/AAAAAAAAAAAAAAAAAAAAAAAAAAAAIQAAABgAAAAUAAAAuwMAAJYRAACQNAAAzSUAABAAAAAmAAAACAAAAP//////////"/>
              </a:ext>
            </a:extLst>
          </p:cNvSpPr>
          <p:nvPr/>
        </p:nvSpPr>
        <p:spPr>
          <a:xfrm>
            <a:off x="606425" y="2858770"/>
            <a:ext cx="7938135" cy="3286125"/>
          </a:xfrm>
          <a:prstGeom prst="rect">
            <a:avLst/>
          </a:prstGeom>
          <a:solidFill>
            <a:srgbClr val="FBFBFE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60;p14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QAAIESAAC5NQAAuCYAABAAAAAmAAAACAAAAD2wAAAAAAAA"/>
              </a:ext>
            </a:extLst>
          </p:cNvSpPr>
          <p:nvPr>
            <p:ph type="subTitle" idx="1"/>
          </p:nvPr>
        </p:nvSpPr>
        <p:spPr>
          <a:xfrm>
            <a:off x="728980" y="3007995"/>
            <a:ext cx="8004175" cy="32861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5" name="Google Shape;61;p14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wMAAA4LAABBNQAAlhEAABAAAAAmAAAACAAAAD2wAAAAAAAA"/>
              </a:ext>
            </a:extLst>
          </p:cNvSpPr>
          <p:nvPr>
            <p:ph type="subTitle" idx="2"/>
          </p:nvPr>
        </p:nvSpPr>
        <p:spPr>
          <a:xfrm>
            <a:off x="530225" y="1797050"/>
            <a:ext cx="8126730" cy="106172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3;p15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64;p15"/>
          <p:cNvSpPr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EAAAAAAAAA+/v+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+/v+AAAAAAEAAAAAAAAAAAAAAAAAAAAAAAAAAAAAAAAAAAAAAAAAAAAAAAJ/f38AAAAAA8zMzADAwP8Af39/AAAAAAAAAAAAAAAAAAAAAAAAAAAAIQAAABgAAAAUAAAAOwIAAPIJAABxHwAALycAABAAAAAmAAAACAAAAP//////////"/>
              </a:ext>
            </a:extLst>
          </p:cNvSpPr>
          <p:nvPr/>
        </p:nvSpPr>
        <p:spPr>
          <a:xfrm>
            <a:off x="362585" y="1616710"/>
            <a:ext cx="4748530" cy="4752975"/>
          </a:xfrm>
          <a:prstGeom prst="rect">
            <a:avLst/>
          </a:prstGeom>
          <a:solidFill>
            <a:srgbClr val="FBFBFE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65;p15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NkKAABSHgAAMCcAABAAAAAmAAAACAAAAD2wAAAAAAAA"/>
              </a:ext>
            </a:extLst>
          </p:cNvSpPr>
          <p:nvPr>
            <p:ph type="subTitle" idx="1"/>
          </p:nvPr>
        </p:nvSpPr>
        <p:spPr>
          <a:xfrm>
            <a:off x="500380" y="1763395"/>
            <a:ext cx="4428490" cy="46069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9pPr>
          </a:lstStyle>
          <a:p>
            <a:pPr/>
          </a:p>
        </p:txBody>
      </p:sp>
      <p:sp>
        <p:nvSpPr>
          <p:cNvPr id="5" name="Google Shape;66;p15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LCIAANkKAACPNQAAmCUAABAAAAAmAAAACAAAAD2wAAAAAAAA"/>
              </a:ext>
            </a:extLst>
          </p:cNvSpPr>
          <p:nvPr>
            <p:ph type="subTitle" idx="2"/>
          </p:nvPr>
        </p:nvSpPr>
        <p:spPr>
          <a:xfrm>
            <a:off x="5554980" y="1763395"/>
            <a:ext cx="3151505" cy="434784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simple-light-2">
    <p:bg>
      <p:bgPr>
        <a:blipFill>
          <a:blip r:embed="rId1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;p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lOD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L2/AAD/HwAA"/>
              </a:ext>
            </a:extLst>
          </p:cNvSpPr>
          <p:nvPr>
            <p:ph type="title"/>
          </p:nvPr>
        </p:nvSpPr>
        <p:spPr>
          <a:xfrm>
            <a:off x="500380" y="440690"/>
            <a:ext cx="8521065" cy="130619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400" b="1" cap="none">
                <a:solidFill>
                  <a:srgbClr val="000000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3" name="Google Shape;7;p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lOD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nAIAALMLAAAHNwAAuScAABAAAAAmAAAACAAAAL2/AAD/HwAA"/>
              </a:ext>
            </a:extLst>
          </p:cNvSpPr>
          <p:nvPr>
            <p:ph type="body" idx="1"/>
          </p:nvPr>
        </p:nvSpPr>
        <p:spPr>
          <a:xfrm>
            <a:off x="424180" y="1901825"/>
            <a:ext cx="8521065" cy="455549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 pitchFamily="0" charset="0"/>
              <a:buChar char="●"/>
              <a:defRPr sz="1700" cap="none">
                <a:solidFill>
                  <a:srgbClr val="000000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1pPr>
            <a:lvl2pPr marL="9144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oboto" pitchFamily="0" charset="0"/>
              <a:buChar char="○"/>
              <a:defRPr cap="none">
                <a:solidFill>
                  <a:srgbClr val="000000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2pPr>
            <a:lvl3pPr marL="13716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■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3pPr>
            <a:lvl4pPr marL="18288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●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4pPr>
            <a:lvl5pPr marL="22860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○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5pPr>
            <a:lvl6pPr marL="27432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■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6pPr>
            <a:lvl7pPr marL="32004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●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7pPr>
            <a:lvl8pPr marL="36576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○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8pPr>
            <a:lvl9pPr marL="41148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■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9pPr>
          </a:lstStyle>
          <a:p>
            <a:pPr/>
          </a:p>
        </p:txBody>
      </p:sp>
      <p:sp>
        <p:nvSpPr>
          <p:cNvPr id="4" name="Google Shape;8;p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0AO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L2/AAD/HwAA"/>
              </a:ext>
            </a:extLst>
          </p:cNvSpPr>
          <p:nvPr>
            <p:ph type="sldNum" idx="4"/>
          </p:nvPr>
        </p:nvSpPr>
        <p:spPr>
          <a:xfrm>
            <a:off x="8472170" y="6217920"/>
            <a:ext cx="549275" cy="52451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 algn="r">
              <a:buNone/>
              <a:defRPr sz="1000" cap="none">
                <a:solidFill>
                  <a:srgbClr val="595959"/>
                </a:solidFill>
              </a:defRPr>
            </a:lvl1pPr>
            <a:lvl2pPr algn="r">
              <a:buNone/>
              <a:defRPr sz="1000" cap="none">
                <a:solidFill>
                  <a:srgbClr val="595959"/>
                </a:solidFill>
              </a:defRPr>
            </a:lvl2pPr>
            <a:lvl3pPr algn="r">
              <a:buNone/>
              <a:defRPr sz="1000" cap="none">
                <a:solidFill>
                  <a:srgbClr val="595959"/>
                </a:solidFill>
              </a:defRPr>
            </a:lvl3pPr>
            <a:lvl4pPr algn="r">
              <a:buNone/>
              <a:defRPr sz="1000" cap="none">
                <a:solidFill>
                  <a:srgbClr val="595959"/>
                </a:solidFill>
              </a:defRPr>
            </a:lvl4pPr>
            <a:lvl5pPr algn="r">
              <a:buNone/>
              <a:defRPr sz="1000" cap="none">
                <a:solidFill>
                  <a:srgbClr val="595959"/>
                </a:solidFill>
              </a:defRPr>
            </a:lvl5pPr>
            <a:lvl6pPr algn="r">
              <a:buNone/>
              <a:defRPr sz="1000" cap="none">
                <a:solidFill>
                  <a:srgbClr val="595959"/>
                </a:solidFill>
              </a:defRPr>
            </a:lvl6pPr>
            <a:lvl7pPr algn="r">
              <a:buNone/>
              <a:defRPr sz="1000" cap="none">
                <a:solidFill>
                  <a:srgbClr val="595959"/>
                </a:solidFill>
              </a:defRPr>
            </a:lvl7pPr>
            <a:lvl8pPr algn="r">
              <a:buNone/>
              <a:defRPr sz="1000" cap="none">
                <a:solidFill>
                  <a:srgbClr val="595959"/>
                </a:solidFill>
              </a:defRPr>
            </a:lvl8pPr>
            <a:lvl9pPr algn="r">
              <a:buNone/>
              <a:defRPr sz="1000" cap="none">
                <a:solidFill>
                  <a:srgbClr val="595959"/>
                </a:solidFill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AA907-49D2-8F5F-9C62-BF0AE72C6AEA}" type="slidenum">
              <a:rPr lang="ru-ru" cap="none"/>
              <a:t/>
            </a:fld>
            <a:endParaRPr lang="ru-ru" cap="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hf sldNum="0" hdr="0" ftr="0" dt="0"/>
  <p:txStyles>
    <p:title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1pPr>
      <a:lvl2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2pPr>
      <a:lvl3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3pPr>
      <a:lvl4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4pPr>
      <a:lvl5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5pPr>
      <a:lvl6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6pPr>
      <a:lvl7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7pPr>
      <a:lvl8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8pPr>
      <a:lvl9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9pPr>
    </p:titleStyle>
    <p:body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1pPr>
      <a:lvl2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2pPr>
      <a:lvl3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3pPr>
      <a:lvl4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4pPr>
      <a:lvl5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5pPr>
      <a:lvl6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6pPr>
      <a:lvl7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7pPr>
      <a:lvl8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8pPr>
      <a:lvl9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1pPr>
      <a:lvl2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2pPr>
      <a:lvl3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3pPr>
      <a:lvl4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4pPr>
      <a:lvl5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5pPr>
      <a:lvl6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6pPr>
      <a:lvl7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7pPr>
      <a:lvl8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8pPr>
      <a:lvl9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eg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themeOverride" Target="../theme/themeOverride1.xml"/></Relationships>
</file>

<file path=ppt/slides/_rels/slide1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30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5wQAAD8jAAD6IwAAvykAABAAAAAmAAAACAAAADwwAAAAAAAA"/>
              </a:ext>
            </a:extLst>
          </p:cNvSpPr>
          <p:nvPr>
            <p:ph type="subTitle" idx="1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otus.ru</a:t>
            </a:r>
            <a:endParaRPr lang="ru-ru" cap="none"/>
          </a:p>
        </p:txBody>
      </p:sp>
      <p:sp>
        <p:nvSpPr>
          <p:cNvPr id="3" name="Google Shape;130;p30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5wQAAMMPAACROAAAfyQ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Онлайн</a:t>
            </a:r>
            <a:endParaRPr lang="ru-ru" cap="none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образование</a:t>
            </a:r>
            <a:endParaRPr lang="ru-ru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31"/>
          <p:cNvSpPr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twQAAMgQAACINQAAsBcAABAAAAAmAAAACAAAAP//////////"/>
              </a:ext>
            </a:extLst>
          </p:cNvSpPr>
          <p:nvPr/>
        </p:nvSpPr>
        <p:spPr>
          <a:xfrm>
            <a:off x="766445" y="2727960"/>
            <a:ext cx="7935595" cy="11226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000" b="1" cap="none">
                <a:latin typeface="Roboto" pitchFamily="0" charset="0"/>
                <a:ea typeface="Roboto" pitchFamily="0" charset="0"/>
                <a:cs typeface="Roboto" pitchFamily="0" charset="0"/>
              </a:rPr>
              <a:t>Меня хорошо видно</a:t>
            </a:r>
            <a:endParaRPr sz="5000" b="1" cap="none">
              <a:latin typeface="Roboto" pitchFamily="0" charset="0"/>
              <a:ea typeface="Roboto" pitchFamily="0" charset="0"/>
              <a:cs typeface="Roboto" pitchFamily="0" charset="0"/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000" b="1" cap="none">
                <a:latin typeface="Roboto" pitchFamily="0" charset="0"/>
                <a:ea typeface="Roboto" pitchFamily="0" charset="0"/>
                <a:cs typeface="Roboto" pitchFamily="0" charset="0"/>
              </a:rPr>
              <a:t>&amp;&amp; слышно?</a:t>
            </a:r>
            <a:endParaRPr sz="5000" b="1" cap="none"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pic>
        <p:nvPicPr>
          <p:cNvPr id="3" name="Google Shape;136;p31"/>
          <p:cNvPicPr>
            <a:extLst>
              <a:ext uri="smNativeData">
                <pr:smNativeData xmlns:pr="smNativeData" xmlns="smNativeData" val="SMDATA_17_LkR5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EYFAAD3GgAAmAkAAEkf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383405"/>
            <a:ext cx="702310" cy="70231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Google Shape;137;p31"/>
          <p:cNvPicPr>
            <a:extLst>
              <a:ext uri="smNativeData">
                <pr:smNativeData xmlns:pr="smNativeData" xmlns="smNativeData" val="SMDATA_17_LkR5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DPAQ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LAKAAD3GgAAAg8AAEkfAAAQAAAAJgAAAAgAAAD//////////w=="/>
              </a:ext>
            </a:extLst>
          </p:cNvPicPr>
          <p:nvPr/>
        </p:nvPicPr>
        <p:blipFill>
          <a:blip r:embed="rId4"/>
          <a:stretch>
            <a:fillRect/>
          </a:stretch>
        </p:blipFill>
        <p:spPr>
          <a:xfrm>
            <a:off x="1737360" y="4383405"/>
            <a:ext cx="702310" cy="70231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42;p32"/>
          <p:cNvSpPr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EAAAAAAAAAAT2F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T2FAP///wEAAAAAAAAAAAAAAAAAAAAAAAAAAAAAAAAAAAAAAAAAAAAAAAJ/f38AWVlZA8zMzADAwP8Af39/AAAAAAAAAAAAAAAAAAAAAAAAAAAAIQAAABgAAAAUAAAA4AMAALMWAAAyDQAAniUAABAAAAAmAAAACAAAAP//////////"/>
              </a:ext>
            </a:extLst>
          </p:cNvSpPr>
          <p:nvPr/>
        </p:nvSpPr>
        <p:spPr>
          <a:xfrm>
            <a:off x="629920" y="3689985"/>
            <a:ext cx="1515110" cy="2425065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Google Shape;144;p32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JrHIp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FQEAAB/NwAAARcAABAAAAAmAAAACAAAAD0wAAAAAAAA"/>
              </a:ext>
            </a:extLst>
          </p:cNvSpPr>
          <p:nvPr>
            <p:ph type="title"/>
          </p:nvPr>
        </p:nvSpPr>
        <p:spPr>
          <a:xfrm>
            <a:off x="500380" y="703580"/>
            <a:ext cx="8521065" cy="303593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Защита проекта</a:t>
            </a:r>
            <a:endParaRPr lang="ru-ru" cap="none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Тема: </a:t>
            </a:r>
            <a:r>
              <a:rPr cap="none">
                <a:solidFill>
                  <a:srgbClr val="0000FF"/>
                </a:solidFill>
              </a:rPr>
              <a:t>Микросервис на основе Apache Kafka для обогащения данных из внешнего источника с помощью ZIO</a:t>
            </a:r>
            <a:endParaRPr cap="none">
              <a:solidFill>
                <a:srgbClr val="0000FF"/>
              </a:solidFill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145;p32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gN8V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ShMAAK8ZAABQNwAAgB4AABAAAAAmAAAACAAAAD2wAAAAAAAA"/>
              </a:ext>
            </a:extLst>
          </p:cNvSpPr>
          <p:nvPr>
            <p:ph type="subTitle" idx="2"/>
          </p:nvPr>
        </p:nvSpPr>
        <p:spPr>
          <a:xfrm>
            <a:off x="3135630" y="4175125"/>
            <a:ext cx="5855970" cy="78295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b="1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9pPr>
          </a:lstStyle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cap="none">
                <a:solidFill>
                  <a:srgbClr val="02418B"/>
                </a:solidFill>
              </a:rPr>
              <a:t>Филатов Алексей</a:t>
            </a:r>
            <a:endParaRPr cap="none">
              <a:solidFill>
                <a:srgbClr val="02418B"/>
              </a:solidFill>
            </a:endParaRPr>
          </a:p>
        </p:txBody>
      </p:sp>
      <p:sp>
        <p:nvSpPr>
          <p:cNvPr id="5" name="Google Shape;146;p32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scKB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ShMAACUcAABQNwAApSIAABAAAAAmAAAACAAAAD0wAAAAAAAA"/>
              </a:ext>
            </a:extLst>
          </p:cNvSpPr>
          <p:nvPr>
            <p:ph type="subTitle" idx="3"/>
          </p:nvPr>
        </p:nvSpPr>
        <p:spPr>
          <a:xfrm>
            <a:off x="3135630" y="4575175"/>
            <a:ext cx="5855970" cy="105664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 </a:t>
            </a:r>
            <a:endParaRPr lang="ru-ru" cap="none"/>
          </a:p>
        </p:txBody>
      </p:sp>
      <p:sp>
        <p:nvSpPr>
          <p:cNvPr id="6" name="Google Shape;147;p32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28P2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ShMAACUdAABQNwAAniUAABAAAAAmAAAACAAAAD0wAAAAAAAA"/>
              </a:ext>
            </a:extLst>
          </p:cNvSpPr>
          <p:nvPr>
            <p:ph type="subTitle" idx="4"/>
          </p:nvPr>
        </p:nvSpPr>
        <p:spPr>
          <a:xfrm>
            <a:off x="3135630" y="4737735"/>
            <a:ext cx="5855970" cy="137731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  <a:defRPr lang="ru-ru" sz="1600" b="1" cap="none">
                <a:solidFill>
                  <a:srgbClr val="0000FF"/>
                </a:solidFill>
              </a:defRPr>
            </a:pPr>
            <a:r>
              <a:t>Главный инженер по разработке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  <a:defRPr lang="ru-ru" sz="1600" b="1" cap="none">
                <a:solidFill>
                  <a:srgbClr val="0000FF"/>
                </a:solidFill>
              </a:defRPr>
            </a:pPr>
            <a:r>
              <a:t>Сбер</a:t>
            </a:r>
          </a:p>
        </p:txBody>
      </p:sp>
      <p:pic>
        <p:nvPicPr>
          <p:cNvPr id="7" name="Изображение1"/>
          <p:cNvPicPr>
            <a:picLocks noChangeAspect="1"/>
            <a:extLst>
              <a:ext uri="smNativeData">
                <pr:smNativeData xmlns:pr="smNativeData" xmlns="smNativeData" val="SMDATA_17_LkR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HgEAACpGAAA0Q4AAL8l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" y="4008755"/>
            <a:ext cx="1682115" cy="212725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52;p33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AcAABAAAAAmAAAACAAAAD0wAAAAAAAA"/>
              </a:ext>
            </a:extLst>
          </p:cNvSpPr>
          <p:nvPr>
            <p:ph type="title"/>
          </p:nvPr>
        </p:nvSpPr>
        <p:spPr>
          <a:xfrm>
            <a:off x="500380" y="440690"/>
            <a:ext cx="8521065" cy="75057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План защиты</a:t>
            </a:r>
            <a:endParaRPr lang="ru-ru" cap="none"/>
          </a:p>
        </p:txBody>
      </p:sp>
      <p:sp>
        <p:nvSpPr>
          <p:cNvPr id="3" name="Google Shape;153;p33"/>
          <p:cNvSpPr>
            <a:extLst>
              <a:ext uri="smNativeData">
                <pr:smNativeData xmlns:pr="smNativeData" xmlns="smNativeData" val="SMDATA_15_LkR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EqKdA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M0IAAADGQAA4wsAABAAAAAmAAAACAAAAP//////////"/>
              </a:ext>
            </a:extLst>
          </p:cNvSpPr>
          <p:nvPr/>
        </p:nvSpPr>
        <p:spPr>
          <a:xfrm>
            <a:off x="680720" y="1430655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Цели проекта 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4" name="Google Shape;154;p33"/>
          <p:cNvSpPr>
            <a:extLst>
              <a:ext uri="smNativeData">
                <pr:smNativeData xmlns:pr="smNativeData" xmlns="smNativeData" val="SMDATA_15_LkR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dydo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N4NAAADGQAA9BAAABAAAAAmAAAACAAAAP//////////"/>
              </a:ext>
            </a:extLst>
          </p:cNvSpPr>
          <p:nvPr/>
        </p:nvSpPr>
        <p:spPr>
          <a:xfrm>
            <a:off x="680720" y="2254250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Что планировалось</a:t>
            </a:r>
            <a:endParaRPr sz="13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5" name="Google Shape;155;p33"/>
          <p:cNvSpPr>
            <a:extLst>
              <a:ext uri="smNativeData">
                <pr:smNativeData xmlns:pr="smNativeData" xmlns="smNativeData" val="SMDATA_15_LkR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E554F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AQTAAADGQAAGhYAABAAAAAmAAAACAAAAP//////////"/>
              </a:ext>
            </a:extLst>
          </p:cNvSpPr>
          <p:nvPr/>
        </p:nvSpPr>
        <p:spPr>
          <a:xfrm>
            <a:off x="680720" y="3091180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Используемые технологии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6" name="Google Shape;156;p33"/>
          <p:cNvSpPr>
            <a:extLst>
              <a:ext uri="smNativeData">
                <pr:smNativeData xmlns:pr="smNativeData" xmlns="smNativeData" val="SMDATA_15_LkR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RNBp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CoYAAADGQAAQBsAABAAAAAmAAAACAAAAP//////////"/>
              </a:ext>
            </a:extLst>
          </p:cNvSpPr>
          <p:nvPr/>
        </p:nvSpPr>
        <p:spPr>
          <a:xfrm>
            <a:off x="680720" y="3928110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Что получилось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7" name="Google Shape;157;p33"/>
          <p:cNvSpPr>
            <a:extLst>
              <a:ext uri="smNativeData">
                <pr:smNativeData xmlns:pr="smNativeData" xmlns="smNativeData" val="SMDATA_15_LkR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QBpU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PkcAAADGQAADyAAABAAAAAmAAAACAAAAP//////////"/>
              </a:ext>
            </a:extLst>
          </p:cNvSpPr>
          <p:nvPr/>
        </p:nvSpPr>
        <p:spPr>
          <a:xfrm>
            <a:off x="680720" y="4709795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Схемы/архитектура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8" name="Google Shape;158;p33"/>
          <p:cNvSpPr>
            <a:extLst>
              <a:ext uri="smNativeData">
                <pr:smNativeData xmlns:pr="smNativeData" xmlns="smNativeData" val="SMDATA_15_LkR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COg4r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MkhAAADGQAA3yQAABAAAAAmAAAACAAAAP//////////"/>
              </a:ext>
            </a:extLst>
          </p:cNvSpPr>
          <p:nvPr/>
        </p:nvSpPr>
        <p:spPr>
          <a:xfrm>
            <a:off x="680720" y="5492115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Выводы</a:t>
            </a:r>
            <a:endParaRPr sz="13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cxnSp>
        <p:nvCxnSpPr>
          <p:cNvPr id="9" name="Google Shape;159;p33"/>
          <p:cNvCxnSpPr>
            <a:stCxn id="3" idx="1"/>
            <a:endCxn id="4" idx="1"/>
            <a:extLst>
              <a:ext uri="smNativeData">
                <pr:smNativeData xmlns:pr="smNativeData" xmlns="smNativeData" val="SMDATA_15_LkR5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kM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FgKAAAwBAAAaQ8AABAAAAAmAAAACAAAAP//////////"/>
              </a:ext>
            </a:extLst>
          </p:cNvCxnSpPr>
          <p:nvPr/>
        </p:nvCxnSpPr>
        <p:spPr>
          <a:xfrm>
            <a:off x="680720" y="1681480"/>
            <a:ext cx="12700" cy="823595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0" name="Google Shape;160;p33"/>
          <p:cNvCxnSpPr>
            <a:stCxn id="4" idx="1"/>
            <a:endCxn id="5" idx="1"/>
            <a:extLst>
              <a:ext uri="smNativeData">
                <pr:smNativeData xmlns:pr="smNativeData" xmlns="smNativeData" val="SMDATA_15_LkR5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GkPAAAwBAAAjxQAABAAAAAmAAAACAAAAP//////////"/>
              </a:ext>
            </a:extLst>
          </p:cNvCxnSpPr>
          <p:nvPr/>
        </p:nvCxnSpPr>
        <p:spPr>
          <a:xfrm>
            <a:off x="680720" y="2505075"/>
            <a:ext cx="12700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1" name="Google Shape;161;p33"/>
          <p:cNvCxnSpPr>
            <a:stCxn id="5" idx="1"/>
            <a:endCxn id="6" idx="1"/>
            <a:extLst>
              <a:ext uri="smNativeData">
                <pr:smNativeData xmlns:pr="smNativeData" xmlns="smNativeData" val="SMDATA_15_LkR5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B++y0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I8UAAAwBAAAtRkAABAAAAAmAAAACAAAAP//////////"/>
              </a:ext>
            </a:extLst>
          </p:cNvCxnSpPr>
          <p:nvPr/>
        </p:nvCxnSpPr>
        <p:spPr>
          <a:xfrm>
            <a:off x="680720" y="3342005"/>
            <a:ext cx="12700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2" name="Google Shape;162;p33"/>
          <p:cNvCxnSpPr>
            <a:extLst>
              <a:ext uri="smNativeData">
                <pr:smNativeData xmlns:pr="smNativeData" xmlns="smNativeData" val="SMDATA_15_LkR5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PUZAAAxBAAAGx8AABAAAAAmAAAACAAAAP//////////"/>
              </a:ext>
            </a:extLst>
          </p:cNvCxnSpPr>
          <p:nvPr/>
        </p:nvCxnSpPr>
        <p:spPr>
          <a:xfrm>
            <a:off x="680720" y="4219575"/>
            <a:ext cx="635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3" name="Google Shape;163;p33"/>
          <p:cNvCxnSpPr>
            <a:extLst>
              <a:ext uri="smNativeData">
                <pr:smNativeData xmlns:pr="smNativeData" xmlns="smNativeData" val="SMDATA_15_LkR5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Cg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FofAAAxBAAAgCQAABAAAAAmAAAACAAAAP//////////"/>
              </a:ext>
            </a:extLst>
          </p:cNvCxnSpPr>
          <p:nvPr/>
        </p:nvCxnSpPr>
        <p:spPr>
          <a:xfrm>
            <a:off x="680720" y="5096510"/>
            <a:ext cx="635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68;p34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COP96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Цели проекта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25184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Разработать микросервис на основе 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Применить инструменты экосистемы ZIO для работы с 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Определить методы работы ZIO Kafka с внешними сервисами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4.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Понять и применить общий архитектурный подход к работе с 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</a:tbl>
          </a:graphicData>
        </a:graphic>
      </p:graphicFrame>
      <p:sp>
        <p:nvSpPr>
          <p:cNvPr id="4" name="Google Shape;170;p34"/>
          <p:cNvSpPr>
            <a:extLst>
              <a:ext uri="smNativeData">
                <pr:smNativeData xmlns:pr="smNativeData" xmlns="smNativeData" val="SMDATA_15_LkR5ZhMAAAAlAAAA9AEAAA0AAAAAOAEAAMYAAAA4AQAAxgAAAAAAAAABAAAAAAAAAAEAAABQAAAAe0ljtI6q2r8AAAAAAAD0Pw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BAAAAAAAAAAE9hQ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DpUCp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P///wEAAAAAAAAAAAAAAAAAAAAAAAAAAAAAAAAAAAAAAAAAAAE9hQB/f38AWVlZA8zMzADAwP8Af39/AAAAAAAAAAAAAAAAAAAAAAAAAAAAIQAAABgAAAAUAAAA2CAAAFMCAADnNQAACwkAABAAAAAmAAAACAAAAP//////////"/>
              </a:ext>
            </a:extLst>
          </p:cNvSpPr>
          <p:nvPr/>
        </p:nvSpPr>
        <p:spPr>
          <a:xfrm>
            <a:off x="5339080" y="377825"/>
            <a:ext cx="3423285" cy="10922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F3F3F3"/>
          </a:solidFill>
          <a:ln w="9525" cap="flat" cmpd="sng" algn="ctr">
            <a:solidFill>
              <a:srgbClr val="013D85"/>
            </a:solidFill>
            <a:prstDash val="solid"/>
            <a:headEnd type="none"/>
            <a:tailEnd type="none"/>
          </a:ln>
          <a:effectLst/>
        </p:spPr>
        <p:txBody>
          <a:bodyPr vert="horz" wrap="square" lIns="198120" tIns="125730" rIns="198120" bIns="12573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02418B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Какие цели вы поставили и какие задачи решили своим проектом </a:t>
            </a:r>
            <a:endParaRPr sz="1500" cap="none">
              <a:solidFill>
                <a:srgbClr val="02418B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5;p35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l3mg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Что планировалось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25184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Создать ZIO Producer и ZIO Consumer для обработки данных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Создать механизм обогащения сырых данных из внешнего источника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Настроить систему управления и мониторинга на основе gui Conductor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4.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</a:tbl>
          </a:graphicData>
        </a:graphic>
      </p:graphicFrame>
      <p:sp>
        <p:nvSpPr>
          <p:cNvPr id="4" name="Google Shape;177;p35"/>
          <p:cNvSpPr>
            <a:extLst>
              <a:ext uri="smNativeData">
                <pr:smNativeData xmlns:pr="smNativeData" xmlns="smNativeData" val="SMDATA_15_LkR5ZhMAAAAlAAAA9AEAAA0AAAAAOAEAAMYAAAA4AQAAxgAAAAAAAAABAAAAAAAAAAEAAABQAAAAe0ljtI6q2r8AAAAAAAD0Pw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BAAAAAAAAAAE9hQ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CgVFO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P///wEAAAAAAAAAAAAAAAAAAAAAAAAAAAAAAAAAAAAAAAAAAAE9hQB/f38AWVlZA8zMzADAwP8Af39/AAAAAAAAAAAAAAAAAAAAAAAAAAAAIQAAABgAAAAUAAAA2CAAAFMCAADnNQAACwkAABAAAAAmAAAACAAAAP//////////"/>
              </a:ext>
            </a:extLst>
          </p:cNvSpPr>
          <p:nvPr/>
        </p:nvSpPr>
        <p:spPr>
          <a:xfrm>
            <a:off x="5339080" y="377825"/>
            <a:ext cx="3423285" cy="10922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F3F3F3"/>
          </a:solidFill>
          <a:ln w="9525" cap="flat" cmpd="sng" algn="ctr">
            <a:solidFill>
              <a:srgbClr val="013D85"/>
            </a:solidFill>
            <a:prstDash val="solid"/>
            <a:headEnd type="none"/>
            <a:tailEnd type="none"/>
          </a:ln>
          <a:effectLst/>
        </p:spPr>
        <p:txBody>
          <a:bodyPr vert="horz" wrap="square" lIns="198120" tIns="125730" rIns="198120" bIns="12573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02418B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Что было в начале, что знали до курса, сколько времени заняло выполнение проекта</a:t>
            </a:r>
            <a:endParaRPr sz="1500" cap="none">
              <a:solidFill>
                <a:srgbClr val="02418B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2;p36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eGcz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Используемые технологии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144208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ZIO Streams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</a:tbl>
          </a:graphicData>
        </a:graphic>
      </p:graphicFrame>
      <p:sp>
        <p:nvSpPr>
          <p:cNvPr id="4" name="Google Shape;184;p36"/>
          <p:cNvSpPr>
            <a:extLst>
              <a:ext uri="smNativeData">
                <pr:smNativeData xmlns:pr="smNativeData" xmlns="smNativeData" val="SMDATA_15_LkR5ZhMAAAAlAAAA9AEAAA0AAAAAOAEAAMYAAAA4AQAAxgAAAAAAAAABAAAAAAAAAAEAAABQAAAAR+aRPxh47L8Gu2Hbosz8vw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BAAAAAAAAAAE9hQ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ECA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P///wEAAAAAAAAAAAAAAAAAAAAAAAAAAAAAAAAAAAAAAAAAAAE9hQB/f38AWVlZA8zMzADAwP8Af39/AAAAAAAAAAAAAAAAAAAAAAAAAAAAIQAAABgAAAAUAAAAVR0AALMbAABkMgAAaiIAABAAAAAmAAAACAAAAP//////////"/>
              </a:ext>
            </a:extLst>
          </p:cNvSpPr>
          <p:nvPr/>
        </p:nvSpPr>
        <p:spPr>
          <a:xfrm>
            <a:off x="4768215" y="4502785"/>
            <a:ext cx="3423285" cy="1091565"/>
          </a:xfrm>
          <a:prstGeom prst="wedgeRectCallout">
            <a:avLst>
              <a:gd name="adj1" fmla="val -44483"/>
              <a:gd name="adj2" fmla="val -89998"/>
            </a:avLst>
          </a:prstGeom>
          <a:solidFill>
            <a:srgbClr val="F3F3F3"/>
          </a:solidFill>
          <a:ln w="9525" cap="flat" cmpd="sng" algn="ctr">
            <a:solidFill>
              <a:srgbClr val="013D85"/>
            </a:solidFill>
            <a:prstDash val="solid"/>
            <a:headEnd type="none"/>
            <a:tailEnd type="none"/>
          </a:ln>
          <a:effectLst/>
        </p:spPr>
        <p:txBody>
          <a:bodyPr vert="horz" wrap="square" lIns="198120" tIns="125730" rIns="198120" bIns="125730" numCol="1" spcCol="215900" anchor="ctr"/>
          <a:lstStyle/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02418B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Какие технологии использовались и какое у вас мнение о новых технологиях</a:t>
            </a:r>
            <a:endParaRPr sz="1500" cap="none">
              <a:solidFill>
                <a:srgbClr val="02418B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9;p37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htu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Что получилось</a:t>
            </a:r>
            <a:r>
              <a:t>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MLAAB/NwAAuScAABAAAAAmAAAACAAAADww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Экран gui Conductor с загруженными сырыми данными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LkR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O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NwDAADmDgAAHSAAAMMl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2421890"/>
            <a:ext cx="4592955" cy="371665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Основной экран gui Conductor с подключенным кластером Kafka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LkR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DF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O8DAACGDgAAOyMAAKQl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639445" y="2360930"/>
            <a:ext cx="5087620" cy="375793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Экран мониторинга состояния кластера  gui Conductor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LkR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OwDAADNDgAA7yIAAA4n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" y="2406015"/>
            <a:ext cx="5041265" cy="394271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Монадический парсер текста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LkR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CEEAADlDgAAuS8AAKMk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" y="2421255"/>
            <a:ext cx="7086600" cy="353441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Экран топика с обогащенными данными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LkR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KADAACZDgAAIiMAAKUn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589280" y="2372995"/>
            <a:ext cx="5121910" cy="407162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Ссылка на репозиторий с исходными кодами:</a:t>
            </a:r>
          </a:p>
          <a:p>
            <a:pPr>
              <a:defRPr b="1" cap="none">
                <a:solidFill>
                  <a:srgbClr val="0000FF"/>
                </a:solidFill>
              </a:defRPr>
            </a:pPr>
            <a:r>
              <a:t>https://github.com/AlekseyFilatov/-OTUS_hw_kafka/tree/project/project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6;p38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DtUGR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+gIAAIICAABlNwAAiwoAABAAAAAmAAAACAAAAD0wAAAAAAAA"/>
              </a:ext>
            </a:extLst>
          </p:cNvSpPr>
          <p:nvPr>
            <p:ph type="title"/>
          </p:nvPr>
        </p:nvSpPr>
        <p:spPr>
          <a:xfrm>
            <a:off x="483870" y="407670"/>
            <a:ext cx="8521065" cy="130619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Схемы (архитектура, БД)</a:t>
            </a:r>
            <a:endParaRPr lang="ru-ru" cap="none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Google Shape;197;p38"/>
          <p:cNvSpPr>
            <a:extLst>
              <a:ext uri="smNativeData">
                <pr:smNativeData xmlns:pr="smNativeData" xmlns="smNativeData" val="SMDATA_15_LkR5ZhMAAAAlAAAA9AEAAA0AAAAAOAEAAMYAAAA4AQAAxgAAAAAAAAABAAAAAAAAAAEAAABQAAAAtSRVET1m6b8FJ9au5qX6vw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BAAAAAAAAAAE9hQ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+pTl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P///wEAAAAAAAAAAAAAAAAAAAAAAAAAAAAAAAAAAAAAAAAAAAE9hQB/f38AWVlZA8zMzADAwP8Af39/AAAAAAAAAAAAAAAAAAAAAAAAAAAAIQAAABgAAAAUAAAAvR0AAO0fAADMMgAApCYAABAAAAAmAAAACAAAAP//////////"/>
              </a:ext>
            </a:extLst>
          </p:cNvSpPr>
          <p:nvPr/>
        </p:nvSpPr>
        <p:spPr>
          <a:xfrm>
            <a:off x="4834255" y="5189855"/>
            <a:ext cx="3423285" cy="1091565"/>
          </a:xfrm>
          <a:prstGeom prst="wedgeRectCallout">
            <a:avLst>
              <a:gd name="adj1" fmla="val -39687"/>
              <a:gd name="adj2" fmla="val -83275"/>
            </a:avLst>
          </a:prstGeom>
          <a:solidFill>
            <a:srgbClr val="F3F3F3"/>
          </a:solidFill>
          <a:ln w="9525" cap="flat" cmpd="sng" algn="ctr">
            <a:solidFill>
              <a:srgbClr val="013D85"/>
            </a:solidFill>
            <a:prstDash val="solid"/>
            <a:headEnd type="none"/>
            <a:tailEnd type="none"/>
          </a:ln>
          <a:effectLst/>
        </p:spPr>
        <p:txBody>
          <a:bodyPr vert="horz" wrap="square" lIns="198120" tIns="125730" rIns="198120" bIns="125730" numCol="1" spcCol="215900" anchor="ctr"/>
          <a:lstStyle/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02418B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Опционально, если ваш проект позволяет это сделать</a:t>
            </a:r>
            <a:endParaRPr sz="1500" cap="none">
              <a:solidFill>
                <a:srgbClr val="02418B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LkR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O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AUDAAB5CwAAQzcAAMkc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490855" y="1864995"/>
            <a:ext cx="8492490" cy="281432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2;p39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+nzT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Выводы и планы по развитию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29311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Apache Kafka является удобным и надежным инструментом для хранения и обогащения данных в микросервисной архитектуре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ZIO Streams позволяет использовать эффективную среду ZIO для потоковой обработки данных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Требуется настроить мониторинг не только непосредственно инструментов Apache Kafka и ZIO, но и среды их выполнения используя такие средства как Prometheus и Grafana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342" type="min" val="381000"/>
                  </a:ext>
                </a:extLst>
              </a:tr>
            </a:tbl>
          </a:graphicData>
        </a:graphic>
      </p:graphicFrame>
      <p:sp>
        <p:nvSpPr>
          <p:cNvPr id="4" name="Google Shape;204;p39"/>
          <p:cNvSpPr>
            <a:extLst>
              <a:ext uri="smNativeData">
                <pr:smNativeData xmlns:pr="smNativeData" xmlns="smNativeData" val="SMDATA_15_LkR5ZhMAAAAlAAAA9AEAAA0AAAAAOAEAAMYAAAA4AQAAxgAAAAAAAAABAAAAAAAAAAEAAABQAAAAEXC47Anh479Fb0gmzk0BwA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BAAAAAAAAAAE9hQ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DkxY2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P///wEAAAAAAAAAAAAAAAAAAAAAAAAAAAAAAAAAAAAAAAAAAAE9hQB/f38AWVlZA8zMzADAwP8Af39/AAAAAAAAAAAAAAAAAAAAAAAAAAAAIQAAABgAAAAUAAAAVR0AAO0iAABkMgAAMCoAABAAAAAmAAAACAAAAP//////////"/>
              </a:ext>
            </a:extLst>
          </p:cNvSpPr>
          <p:nvPr/>
        </p:nvSpPr>
        <p:spPr>
          <a:xfrm>
            <a:off x="4768215" y="5677535"/>
            <a:ext cx="3423285" cy="1180465"/>
          </a:xfrm>
          <a:prstGeom prst="wedgeRectCallout">
            <a:avLst>
              <a:gd name="adj1" fmla="val -31061"/>
              <a:gd name="adj2" fmla="val -108150"/>
            </a:avLst>
          </a:prstGeom>
          <a:solidFill>
            <a:srgbClr val="F3F3F3"/>
          </a:solidFill>
          <a:ln w="9525" cap="flat" cmpd="sng" algn="ctr">
            <a:solidFill>
              <a:srgbClr val="013D85"/>
            </a:solidFill>
            <a:prstDash val="solid"/>
            <a:headEnd type="none"/>
            <a:tailEnd type="none"/>
          </a:ln>
          <a:effectLst/>
        </p:spPr>
        <p:txBody>
          <a:bodyPr vert="horz" wrap="square" lIns="198120" tIns="125730" rIns="198120" bIns="125730" numCol="1" spcCol="215900" anchor="ctr"/>
          <a:lstStyle/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02418B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Запланируйте пару минут на рефлексию в конце защиты проекта и расскажите о планах по развитию</a:t>
            </a:r>
            <a:endParaRPr sz="1500" cap="none">
              <a:solidFill>
                <a:srgbClr val="02418B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9;p40"/>
          <p:cNvSpPr>
            <a:spLocks noGrp="1" noChangeArrowheads="1"/>
            <a:extLst>
              <a:ext uri="smNativeData">
                <pr:smNativeData xmlns:pr="smNativeData" xmlns="smNativeData" val="SMDATA_15_LkR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Jx8t8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4gUAAEADAABiNAAAziQAABAAAAAmAAAACAAAAD0wAAAAAAAA"/>
              </a:ext>
            </a:extLst>
          </p:cNvSpPr>
          <p:nvPr>
            <p:ph type="title"/>
          </p:nvPr>
        </p:nvSpPr>
        <p:spPr>
          <a:xfrm>
            <a:off x="956310" y="528320"/>
            <a:ext cx="7559040" cy="5454650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Спасибо за внимание!</a:t>
            </a:r>
            <a:br/>
            <a:endParaRPr sz="1400" b="0" cap="none">
              <a:solidFill>
                <a:srgbClr val="000000"/>
              </a:solidFill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EEEEEE"/>
      </a:dk2>
      <a:lt2>
        <a:srgbClr val="595959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Presentatio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EEEEEE"/>
        </a:dk2>
        <a:lt2>
          <a:srgbClr val="595959"/>
        </a:lt2>
        <a:accent1>
          <a:srgbClr val="4285F4"/>
        </a:accent1>
        <a:accent2>
          <a:srgbClr val="212121"/>
        </a:accent2>
        <a:accent3>
          <a:srgbClr val="78909C"/>
        </a:accent3>
        <a:accent4>
          <a:srgbClr val="FFAB40"/>
        </a:accent4>
        <a:accent5>
          <a:srgbClr val="0097A7"/>
        </a:accent5>
        <a:accent6>
          <a:srgbClr val="EEFF41"/>
        </a:accent6>
        <a:hlink>
          <a:srgbClr val="0097A7"/>
        </a:hlink>
        <a:folHlink>
          <a:srgbClr val="0097A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EEEEEE"/>
        </a:dk2>
        <a:lt2>
          <a:srgbClr val="595959"/>
        </a:lt2>
        <a:accent1>
          <a:srgbClr val="4285F4"/>
        </a:accent1>
        <a:accent2>
          <a:srgbClr val="212121"/>
        </a:accent2>
        <a:accent3>
          <a:srgbClr val="78909C"/>
        </a:accent3>
        <a:accent4>
          <a:srgbClr val="FFAB40"/>
        </a:accent4>
        <a:accent5>
          <a:srgbClr val="0097A7"/>
        </a:accent5>
        <a:accent6>
          <a:srgbClr val="EEFF41"/>
        </a:accent6>
        <a:hlink>
          <a:srgbClr val="0097A7"/>
        </a:hlink>
        <a:folHlink>
          <a:srgbClr val="0097A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F3F3F3"/>
      </a:dk2>
      <a:lt2>
        <a:srgbClr val="158158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Presentatio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F3F3F3"/>
        </a:dk2>
        <a:lt2>
          <a:srgbClr val="158158"/>
        </a:lt2>
        <a:accent1>
          <a:srgbClr val="058DC7"/>
        </a:accent1>
        <a:accent2>
          <a:srgbClr val="50B432"/>
        </a:accent2>
        <a:accent3>
          <a:srgbClr val="ED561B"/>
        </a:accent3>
        <a:accent4>
          <a:srgbClr val="EDEF00"/>
        </a:accent4>
        <a:accent5>
          <a:srgbClr val="24CBE5"/>
        </a:accent5>
        <a:accent6>
          <a:srgbClr val="64E572"/>
        </a:accent6>
        <a:hlink>
          <a:srgbClr val="2200CC"/>
        </a:hlink>
        <a:folHlink>
          <a:srgbClr val="551A8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F3F3F3"/>
        </a:dk2>
        <a:lt2>
          <a:srgbClr val="158158"/>
        </a:lt2>
        <a:accent1>
          <a:srgbClr val="058DC7"/>
        </a:accent1>
        <a:accent2>
          <a:srgbClr val="50B432"/>
        </a:accent2>
        <a:accent3>
          <a:srgbClr val="ED561B"/>
        </a:accent3>
        <a:accent4>
          <a:srgbClr val="EDEF00"/>
        </a:accent4>
        <a:accent5>
          <a:srgbClr val="24CBE5"/>
        </a:accent5>
        <a:accent6>
          <a:srgbClr val="64E572"/>
        </a:accent6>
        <a:hlink>
          <a:srgbClr val="2200CC"/>
        </a:hlink>
        <a:folHlink>
          <a:srgbClr val="551A8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Override1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2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3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4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5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6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7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8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9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10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11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12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AlexFil</cp:lastModifiedBy>
  <cp:revision>0</cp:revision>
  <dcterms:created xsi:type="dcterms:W3CDTF">2024-06-24T08:13:17Z</dcterms:created>
  <dcterms:modified xsi:type="dcterms:W3CDTF">2024-06-24T10:02:22Z</dcterms:modified>
</cp:coreProperties>
</file>